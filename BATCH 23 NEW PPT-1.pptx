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4" r:id="rId1"/>
  </p:sld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80" d="100"/>
          <a:sy n="80" d="100"/>
        </p:scale>
        <p:origin x="782"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viewProps" Target="view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presProps" Target="presProp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10" Type="http://schemas.openxmlformats.org/officeDocument/2006/relationships/slide" Target="slides/slide9.xml" /><Relationship Id="rId19" Type="http://schemas.openxmlformats.org/officeDocument/2006/relationships/theme" Target="theme/theme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F6D90E7-1FDA-4F5A-860B-46611D2ACAC0}"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55D47261-4B05-4C99-A6B4-803502747952}" type="slidenum">
              <a:rPr lang="en-IN" smtClean="0"/>
              <a:t>‹#›</a:t>
            </a:fld>
            <a:endParaRPr lang="en-IN"/>
          </a:p>
        </p:txBody>
      </p:sp>
    </p:spTree>
    <p:extLst>
      <p:ext uri="{BB962C8B-B14F-4D97-AF65-F5344CB8AC3E}">
        <p14:creationId xmlns:p14="http://schemas.microsoft.com/office/powerpoint/2010/main" val="30505859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6D90E7-1FDA-4F5A-860B-46611D2ACAC0}"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5D47261-4B05-4C99-A6B4-803502747952}" type="slidenum">
              <a:rPr lang="en-IN" smtClean="0"/>
              <a:t>‹#›</a:t>
            </a:fld>
            <a:endParaRPr lang="en-IN"/>
          </a:p>
        </p:txBody>
      </p:sp>
    </p:spTree>
    <p:extLst>
      <p:ext uri="{BB962C8B-B14F-4D97-AF65-F5344CB8AC3E}">
        <p14:creationId xmlns:p14="http://schemas.microsoft.com/office/powerpoint/2010/main" val="6604609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F6D90E7-1FDA-4F5A-860B-46611D2ACAC0}"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5D47261-4B05-4C99-A6B4-803502747952}" type="slidenum">
              <a:rPr lang="en-IN" smtClean="0"/>
              <a:t>‹#›</a:t>
            </a:fld>
            <a:endParaRPr lang="en-IN"/>
          </a:p>
        </p:txBody>
      </p:sp>
    </p:spTree>
    <p:extLst>
      <p:ext uri="{BB962C8B-B14F-4D97-AF65-F5344CB8AC3E}">
        <p14:creationId xmlns:p14="http://schemas.microsoft.com/office/powerpoint/2010/main" val="1879716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F6D90E7-1FDA-4F5A-860B-46611D2ACAC0}" type="datetimeFigureOut">
              <a:rPr lang="en-IN" smtClean="0"/>
              <a:t>03-02-2026</a:t>
            </a:fld>
            <a:endParaRPr lang="en-IN"/>
          </a:p>
        </p:txBody>
      </p:sp>
      <p:sp>
        <p:nvSpPr>
          <p:cNvPr id="6" name="Footer Placeholder 5"/>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55D47261-4B05-4C99-A6B4-803502747952}" type="slidenum">
              <a:rPr lang="en-IN" smtClean="0"/>
              <a:t>‹#›</a:t>
            </a:fld>
            <a:endParaRPr lang="en-IN"/>
          </a:p>
        </p:txBody>
      </p:sp>
    </p:spTree>
    <p:extLst>
      <p:ext uri="{BB962C8B-B14F-4D97-AF65-F5344CB8AC3E}">
        <p14:creationId xmlns:p14="http://schemas.microsoft.com/office/powerpoint/2010/main" val="5331397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F6D90E7-1FDA-4F5A-860B-46611D2ACAC0}" type="datetimeFigureOut">
              <a:rPr lang="en-IN" smtClean="0"/>
              <a:t>03-02-2026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55D47261-4B05-4C99-A6B4-803502747952}" type="slidenum">
              <a:rPr lang="en-IN" smtClean="0"/>
              <a:t>‹#›</a:t>
            </a:fld>
            <a:endParaRPr lang="en-IN"/>
          </a:p>
        </p:txBody>
      </p:sp>
    </p:spTree>
    <p:extLst>
      <p:ext uri="{BB962C8B-B14F-4D97-AF65-F5344CB8AC3E}">
        <p14:creationId xmlns:p14="http://schemas.microsoft.com/office/powerpoint/2010/main" val="5462724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F6D90E7-1FDA-4F5A-860B-46611D2ACAC0}" type="datetimeFigureOut">
              <a:rPr lang="en-IN" smtClean="0"/>
              <a:t>03-02-2026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55D47261-4B05-4C99-A6B4-803502747952}" type="slidenum">
              <a:rPr lang="en-IN" smtClean="0"/>
              <a:t>‹#›</a:t>
            </a:fld>
            <a:endParaRPr lang="en-IN"/>
          </a:p>
        </p:txBody>
      </p:sp>
    </p:spTree>
    <p:extLst>
      <p:ext uri="{BB962C8B-B14F-4D97-AF65-F5344CB8AC3E}">
        <p14:creationId xmlns:p14="http://schemas.microsoft.com/office/powerpoint/2010/main" val="959388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6D90E7-1FDA-4F5A-860B-46611D2ACAC0}" type="datetimeFigureOut">
              <a:rPr lang="en-IN" smtClean="0"/>
              <a:t>03-02-2026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55D47261-4B05-4C99-A6B4-803502747952}" type="slidenum">
              <a:rPr lang="en-IN" smtClean="0"/>
              <a:t>‹#›</a:t>
            </a:fld>
            <a:endParaRPr lang="en-IN"/>
          </a:p>
        </p:txBody>
      </p:sp>
    </p:spTree>
    <p:extLst>
      <p:ext uri="{BB962C8B-B14F-4D97-AF65-F5344CB8AC3E}">
        <p14:creationId xmlns:p14="http://schemas.microsoft.com/office/powerpoint/2010/main" val="42666399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F6D90E7-1FDA-4F5A-860B-46611D2ACAC0}" type="datetimeFigureOut">
              <a:rPr lang="en-IN" smtClean="0"/>
              <a:t>03-02-2026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55D47261-4B05-4C99-A6B4-803502747952}" type="slidenum">
              <a:rPr lang="en-IN" smtClean="0"/>
              <a:t>‹#›</a:t>
            </a:fld>
            <a:endParaRPr lang="en-IN"/>
          </a:p>
        </p:txBody>
      </p:sp>
    </p:spTree>
    <p:extLst>
      <p:ext uri="{BB962C8B-B14F-4D97-AF65-F5344CB8AC3E}">
        <p14:creationId xmlns:p14="http://schemas.microsoft.com/office/powerpoint/2010/main" val="419139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F6D90E7-1FDA-4F5A-860B-46611D2ACAC0}" type="datetimeFigureOut">
              <a:rPr lang="en-IN" smtClean="0"/>
              <a:t>03-02-2026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5D47261-4B05-4C99-A6B4-803502747952}" type="slidenum">
              <a:rPr lang="en-IN" smtClean="0"/>
              <a:t>‹#›</a:t>
            </a:fld>
            <a:endParaRPr lang="en-IN"/>
          </a:p>
        </p:txBody>
      </p:sp>
    </p:spTree>
    <p:extLst>
      <p:ext uri="{BB962C8B-B14F-4D97-AF65-F5344CB8AC3E}">
        <p14:creationId xmlns:p14="http://schemas.microsoft.com/office/powerpoint/2010/main" val="1460972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F6D90E7-1FDA-4F5A-860B-46611D2ACAC0}"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5D47261-4B05-4C99-A6B4-803502747952}" type="slidenum">
              <a:rPr lang="en-IN" smtClean="0"/>
              <a:t>‹#›</a:t>
            </a:fld>
            <a:endParaRPr lang="en-IN"/>
          </a:p>
        </p:txBody>
      </p:sp>
    </p:spTree>
    <p:extLst>
      <p:ext uri="{BB962C8B-B14F-4D97-AF65-F5344CB8AC3E}">
        <p14:creationId xmlns:p14="http://schemas.microsoft.com/office/powerpoint/2010/main" val="5834432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F6D90E7-1FDA-4F5A-860B-46611D2ACAC0}"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5D47261-4B05-4C99-A6B4-803502747952}"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0648795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FF6D90E7-1FDA-4F5A-860B-46611D2ACAC0}" type="datetimeFigureOut">
              <a:rPr lang="en-IN" smtClean="0"/>
              <a:t>03-02-2026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5D47261-4B05-4C99-A6B4-803502747952}" type="slidenum">
              <a:rPr lang="en-IN" smtClean="0"/>
              <a:t>‹#›</a:t>
            </a:fld>
            <a:endParaRPr lang="en-IN"/>
          </a:p>
        </p:txBody>
      </p:sp>
    </p:spTree>
    <p:extLst>
      <p:ext uri="{BB962C8B-B14F-4D97-AF65-F5344CB8AC3E}">
        <p14:creationId xmlns:p14="http://schemas.microsoft.com/office/powerpoint/2010/main" val="26383777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FF6D90E7-1FDA-4F5A-860B-46611D2ACAC0}" type="datetimeFigureOut">
              <a:rPr lang="en-IN" smtClean="0"/>
              <a:t>03-02-2026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5D47261-4B05-4C99-A6B4-803502747952}"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1395576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FF6D90E7-1FDA-4F5A-860B-46611D2ACAC0}" type="datetimeFigureOut">
              <a:rPr lang="en-IN" smtClean="0"/>
              <a:t>03-02-2026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5D47261-4B05-4C99-A6B4-803502747952}" type="slidenum">
              <a:rPr lang="en-IN" smtClean="0"/>
              <a:t>‹#›</a:t>
            </a:fld>
            <a:endParaRPr lang="en-IN"/>
          </a:p>
        </p:txBody>
      </p:sp>
    </p:spTree>
    <p:extLst>
      <p:ext uri="{BB962C8B-B14F-4D97-AF65-F5344CB8AC3E}">
        <p14:creationId xmlns:p14="http://schemas.microsoft.com/office/powerpoint/2010/main" val="16408364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6D90E7-1FDA-4F5A-860B-46611D2ACAC0}"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5D47261-4B05-4C99-A6B4-803502747952}" type="slidenum">
              <a:rPr lang="en-IN" smtClean="0"/>
              <a:t>‹#›</a:t>
            </a:fld>
            <a:endParaRPr lang="en-IN"/>
          </a:p>
        </p:txBody>
      </p:sp>
    </p:spTree>
    <p:extLst>
      <p:ext uri="{BB962C8B-B14F-4D97-AF65-F5344CB8AC3E}">
        <p14:creationId xmlns:p14="http://schemas.microsoft.com/office/powerpoint/2010/main" val="36284691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6D90E7-1FDA-4F5A-860B-46611D2ACAC0}"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5D47261-4B05-4C99-A6B4-803502747952}" type="slidenum">
              <a:rPr lang="en-IN" smtClean="0"/>
              <a:t>‹#›</a:t>
            </a:fld>
            <a:endParaRPr lang="en-IN"/>
          </a:p>
        </p:txBody>
      </p:sp>
    </p:spTree>
    <p:extLst>
      <p:ext uri="{BB962C8B-B14F-4D97-AF65-F5344CB8AC3E}">
        <p14:creationId xmlns:p14="http://schemas.microsoft.com/office/powerpoint/2010/main" val="7134100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theme" Target="../theme/theme1.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FF6D90E7-1FDA-4F5A-860B-46611D2ACAC0}" type="datetimeFigureOut">
              <a:rPr lang="en-IN" smtClean="0"/>
              <a:t>03-02-2026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55D47261-4B05-4C99-A6B4-803502747952}" type="slidenum">
              <a:rPr lang="en-IN" smtClean="0"/>
              <a:t>‹#›</a:t>
            </a:fld>
            <a:endParaRPr lang="en-IN"/>
          </a:p>
        </p:txBody>
      </p:sp>
    </p:spTree>
    <p:extLst>
      <p:ext uri="{BB962C8B-B14F-4D97-AF65-F5344CB8AC3E}">
        <p14:creationId xmlns:p14="http://schemas.microsoft.com/office/powerpoint/2010/main" val="3446231759"/>
      </p:ext>
    </p:extLst>
  </p:cSld>
  <p:clrMap bg1="lt1" tx1="dk1" bg2="lt2" tx2="dk2" accent1="accent1" accent2="accent2" accent3="accent3" accent4="accent4" accent5="accent5" accent6="accent6" hlink="hlink" folHlink="folHlink"/>
  <p:sldLayoutIdLst>
    <p:sldLayoutId id="2147483815" r:id="rId1"/>
    <p:sldLayoutId id="2147483816" r:id="rId2"/>
    <p:sldLayoutId id="2147483817" r:id="rId3"/>
    <p:sldLayoutId id="2147483818" r:id="rId4"/>
    <p:sldLayoutId id="2147483819" r:id="rId5"/>
    <p:sldLayoutId id="2147483820" r:id="rId6"/>
    <p:sldLayoutId id="2147483821" r:id="rId7"/>
    <p:sldLayoutId id="2147483822" r:id="rId8"/>
    <p:sldLayoutId id="2147483823" r:id="rId9"/>
    <p:sldLayoutId id="2147483824" r:id="rId10"/>
    <p:sldLayoutId id="2147483825" r:id="rId11"/>
    <p:sldLayoutId id="2147483826" r:id="rId12"/>
    <p:sldLayoutId id="2147483827" r:id="rId13"/>
    <p:sldLayoutId id="2147483828" r:id="rId14"/>
    <p:sldLayoutId id="2147483829" r:id="rId15"/>
    <p:sldLayoutId id="2147483830"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6.xml" /></Relationships>
</file>

<file path=ppt/slides/_rels/slide2.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image" Target="../media/image4.png"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24BCCFF-9441-2C36-8A08-DAF0D2CD8A21}"/>
              </a:ext>
            </a:extLst>
          </p:cNvPr>
          <p:cNvSpPr>
            <a:spLocks noGrp="1"/>
          </p:cNvSpPr>
          <p:nvPr>
            <p:ph type="title"/>
          </p:nvPr>
        </p:nvSpPr>
        <p:spPr/>
        <p:txBody>
          <a:bodyPr>
            <a:normAutofit/>
          </a:bodyPr>
          <a:lstStyle/>
          <a:p>
            <a:pPr algn="ctr"/>
            <a:r>
              <a:rPr lang="en-IN" sz="3600" b="1" dirty="0">
                <a:solidFill>
                  <a:srgbClr val="FF0000"/>
                </a:solidFill>
                <a:latin typeface="Times New Roman" panose="02020603050405020304" pitchFamily="18" charset="0"/>
                <a:cs typeface="Times New Roman" panose="02020603050405020304" pitchFamily="18" charset="0"/>
              </a:rPr>
              <a:t>CMR Technical Campus</a:t>
            </a:r>
            <a:br>
              <a:rPr lang="en-IN" sz="3600" b="1" dirty="0">
                <a:latin typeface="Times New Roman" panose="02020603050405020304" pitchFamily="18" charset="0"/>
                <a:cs typeface="Times New Roman" panose="02020603050405020304" pitchFamily="18" charset="0"/>
              </a:rPr>
            </a:br>
            <a:r>
              <a:rPr lang="en-IN" sz="3600" b="1" dirty="0">
                <a:solidFill>
                  <a:srgbClr val="00B0F0"/>
                </a:solidFill>
                <a:latin typeface="Times New Roman" panose="02020603050405020304" pitchFamily="18" charset="0"/>
                <a:cs typeface="Times New Roman" panose="02020603050405020304" pitchFamily="18" charset="0"/>
              </a:rPr>
              <a:t>Department of IT</a:t>
            </a:r>
          </a:p>
        </p:txBody>
      </p:sp>
      <p:sp>
        <p:nvSpPr>
          <p:cNvPr id="6" name="TextBox 5">
            <a:extLst>
              <a:ext uri="{FF2B5EF4-FFF2-40B4-BE49-F238E27FC236}">
                <a16:creationId xmlns:a16="http://schemas.microsoft.com/office/drawing/2014/main" id="{8486C94B-A216-2129-F112-83A8E7F0101E}"/>
              </a:ext>
            </a:extLst>
          </p:cNvPr>
          <p:cNvSpPr txBox="1"/>
          <p:nvPr/>
        </p:nvSpPr>
        <p:spPr>
          <a:xfrm>
            <a:off x="3643770" y="1743058"/>
            <a:ext cx="6809994" cy="523220"/>
          </a:xfrm>
          <a:prstGeom prst="rect">
            <a:avLst/>
          </a:prstGeom>
          <a:noFill/>
        </p:spPr>
        <p:txBody>
          <a:bodyPr wrap="square">
            <a:spAutoFit/>
          </a:bodyPr>
          <a:lstStyle/>
          <a:p>
            <a:pPr algn="ctr"/>
            <a:r>
              <a:rPr lang="en-IN" sz="2800" dirty="0">
                <a:solidFill>
                  <a:srgbClr val="7030A0"/>
                </a:solidFill>
                <a:latin typeface="Times New Roman" panose="02020603050405020304" pitchFamily="18" charset="0"/>
                <a:cs typeface="Times New Roman" panose="02020603050405020304" pitchFamily="18" charset="0"/>
              </a:rPr>
              <a:t>Major Project Stage-II Review-I</a:t>
            </a:r>
            <a:endParaRPr lang="en-IN" sz="2800" dirty="0">
              <a:solidFill>
                <a:srgbClr val="7030A0"/>
              </a:solidFill>
            </a:endParaRPr>
          </a:p>
        </p:txBody>
      </p:sp>
      <p:sp>
        <p:nvSpPr>
          <p:cNvPr id="10" name="TextBox 9">
            <a:extLst>
              <a:ext uri="{FF2B5EF4-FFF2-40B4-BE49-F238E27FC236}">
                <a16:creationId xmlns:a16="http://schemas.microsoft.com/office/drawing/2014/main" id="{15CA8DE7-1628-A78E-B951-09110BC98105}"/>
              </a:ext>
            </a:extLst>
          </p:cNvPr>
          <p:cNvSpPr txBox="1"/>
          <p:nvPr/>
        </p:nvSpPr>
        <p:spPr>
          <a:xfrm>
            <a:off x="1100329" y="2557020"/>
            <a:ext cx="10604373" cy="707886"/>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Project Title </a:t>
            </a:r>
            <a:r>
              <a:rPr lang="en-IN"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 Centralized Student–Faculty Platform for Real-Time Academic Performance Prediction.</a:t>
            </a:r>
            <a:r>
              <a:rPr lang="en-IN" sz="2000" dirty="0">
                <a:latin typeface="Times New Roman" panose="02020603050405020304" pitchFamily="18" charset="0"/>
                <a:cs typeface="Times New Roman" panose="02020603050405020304" pitchFamily="18" charset="0"/>
              </a:rPr>
              <a:t> </a:t>
            </a:r>
            <a:endParaRPr lang="en-IN" sz="2000" dirty="0"/>
          </a:p>
        </p:txBody>
      </p:sp>
      <p:sp>
        <p:nvSpPr>
          <p:cNvPr id="12" name="TextBox 11">
            <a:extLst>
              <a:ext uri="{FF2B5EF4-FFF2-40B4-BE49-F238E27FC236}">
                <a16:creationId xmlns:a16="http://schemas.microsoft.com/office/drawing/2014/main" id="{39E5D500-AFEB-A21F-1E94-0CAD3C2A41A6}"/>
              </a:ext>
            </a:extLst>
          </p:cNvPr>
          <p:cNvSpPr txBox="1"/>
          <p:nvPr/>
        </p:nvSpPr>
        <p:spPr>
          <a:xfrm>
            <a:off x="1100329" y="3601026"/>
            <a:ext cx="3805046" cy="1015663"/>
          </a:xfrm>
          <a:prstGeom prst="rect">
            <a:avLst/>
          </a:prstGeom>
          <a:noFill/>
        </p:spPr>
        <p:txBody>
          <a:bodyPr wrap="square">
            <a:spAutoFit/>
          </a:bodyPr>
          <a:lstStyle/>
          <a:p>
            <a:r>
              <a:rPr lang="en-IN" sz="2000" dirty="0">
                <a:solidFill>
                  <a:srgbClr val="00B0F0"/>
                </a:solidFill>
                <a:latin typeface="Times New Roman" panose="02020603050405020304" pitchFamily="18" charset="0"/>
                <a:cs typeface="Times New Roman" panose="02020603050405020304" pitchFamily="18" charset="0"/>
              </a:rPr>
              <a:t>Project Supervisor:</a:t>
            </a:r>
          </a:p>
          <a:p>
            <a:r>
              <a:rPr lang="en-IN" sz="2000" b="1" dirty="0">
                <a:latin typeface="Times New Roman" panose="02020603050405020304" pitchFamily="18" charset="0"/>
                <a:cs typeface="Times New Roman" panose="02020603050405020304" pitchFamily="18" charset="0"/>
              </a:rPr>
              <a:t>Name</a:t>
            </a:r>
            <a:r>
              <a:rPr lang="en-IN" sz="2000" dirty="0">
                <a:latin typeface="Times New Roman" panose="02020603050405020304" pitchFamily="18" charset="0"/>
                <a:cs typeface="Times New Roman" panose="02020603050405020304" pitchFamily="18" charset="0"/>
              </a:rPr>
              <a:t> : D Mahesh Babu</a:t>
            </a:r>
          </a:p>
          <a:p>
            <a:r>
              <a:rPr lang="en-IN" sz="2000" b="1" dirty="0">
                <a:latin typeface="Times New Roman" panose="02020603050405020304" pitchFamily="18" charset="0"/>
                <a:cs typeface="Times New Roman" panose="02020603050405020304" pitchFamily="18" charset="0"/>
              </a:rPr>
              <a:t>Designation</a:t>
            </a:r>
            <a:r>
              <a:rPr lang="en-IN" sz="2000" dirty="0">
                <a:latin typeface="Times New Roman" panose="02020603050405020304" pitchFamily="18" charset="0"/>
                <a:cs typeface="Times New Roman" panose="02020603050405020304" pitchFamily="18" charset="0"/>
              </a:rPr>
              <a:t> : Assistant Professor</a:t>
            </a:r>
          </a:p>
        </p:txBody>
      </p:sp>
      <p:sp>
        <p:nvSpPr>
          <p:cNvPr id="14" name="TextBox 13">
            <a:extLst>
              <a:ext uri="{FF2B5EF4-FFF2-40B4-BE49-F238E27FC236}">
                <a16:creationId xmlns:a16="http://schemas.microsoft.com/office/drawing/2014/main" id="{30DDEF9C-62C8-3415-BC3B-0B0336AAED2F}"/>
              </a:ext>
            </a:extLst>
          </p:cNvPr>
          <p:cNvSpPr txBox="1"/>
          <p:nvPr/>
        </p:nvSpPr>
        <p:spPr>
          <a:xfrm>
            <a:off x="5583301" y="3601026"/>
            <a:ext cx="6121401" cy="1631216"/>
          </a:xfrm>
          <a:prstGeom prst="rect">
            <a:avLst/>
          </a:prstGeom>
          <a:noFill/>
        </p:spPr>
        <p:txBody>
          <a:bodyPr wrap="square">
            <a:spAutoFit/>
          </a:bodyPr>
          <a:lstStyle/>
          <a:p>
            <a:r>
              <a:rPr lang="en-IN" sz="2000" dirty="0">
                <a:solidFill>
                  <a:srgbClr val="00B0F0"/>
                </a:solidFill>
                <a:latin typeface="Times New Roman" panose="02020603050405020304" pitchFamily="18" charset="0"/>
                <a:cs typeface="Times New Roman" panose="02020603050405020304" pitchFamily="18" charset="0"/>
              </a:rPr>
              <a:t>Presented By:</a:t>
            </a:r>
          </a:p>
          <a:p>
            <a:r>
              <a:rPr lang="en-IN" sz="2000" b="1" dirty="0">
                <a:latin typeface="Times New Roman" panose="02020603050405020304" pitchFamily="18" charset="0"/>
                <a:cs typeface="Times New Roman" panose="02020603050405020304" pitchFamily="18" charset="0"/>
              </a:rPr>
              <a:t>Batch No : 23</a:t>
            </a:r>
          </a:p>
          <a:p>
            <a:pPr marL="342900" indent="-342900">
              <a:buAutoNum type="arabicPeriod"/>
            </a:pPr>
            <a:r>
              <a:rPr lang="en-IN" sz="2000" dirty="0">
                <a:latin typeface="Times New Roman" panose="02020603050405020304" pitchFamily="18" charset="0"/>
                <a:cs typeface="Times New Roman" panose="02020603050405020304" pitchFamily="18" charset="0"/>
              </a:rPr>
              <a:t>H. No: 227r1a1236 	Name : M Anjali   </a:t>
            </a:r>
          </a:p>
          <a:p>
            <a:pPr marL="342900" indent="-342900">
              <a:buAutoNum type="arabicPeriod"/>
            </a:pPr>
            <a:r>
              <a:rPr lang="en-IN" sz="2000" dirty="0">
                <a:latin typeface="Times New Roman" panose="02020603050405020304" pitchFamily="18" charset="0"/>
                <a:cs typeface="Times New Roman" panose="02020603050405020304" pitchFamily="18" charset="0"/>
              </a:rPr>
              <a:t>H. No: 237r5a1204	Name : G Abhinav </a:t>
            </a:r>
          </a:p>
          <a:p>
            <a:pPr marL="342900" indent="-342900">
              <a:buAutoNum type="arabicPeriod"/>
            </a:pPr>
            <a:r>
              <a:rPr lang="en-IN" sz="2000" dirty="0">
                <a:latin typeface="Times New Roman" panose="02020603050405020304" pitchFamily="18" charset="0"/>
                <a:cs typeface="Times New Roman" panose="02020603050405020304" pitchFamily="18" charset="0"/>
              </a:rPr>
              <a:t>H. No: 227r1a1238	Name : M Akhila Kumari</a:t>
            </a:r>
          </a:p>
        </p:txBody>
      </p:sp>
      <p:pic>
        <p:nvPicPr>
          <p:cNvPr id="19" name="Picture 18">
            <a:extLst>
              <a:ext uri="{FF2B5EF4-FFF2-40B4-BE49-F238E27FC236}">
                <a16:creationId xmlns:a16="http://schemas.microsoft.com/office/drawing/2014/main" id="{ACD0E701-1851-5AC4-64B4-F801C12AEC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329" y="499410"/>
            <a:ext cx="1712722" cy="1696332"/>
          </a:xfrm>
          <a:prstGeom prst="rect">
            <a:avLst/>
          </a:prstGeom>
        </p:spPr>
      </p:pic>
    </p:spTree>
    <p:extLst>
      <p:ext uri="{BB962C8B-B14F-4D97-AF65-F5344CB8AC3E}">
        <p14:creationId xmlns:p14="http://schemas.microsoft.com/office/powerpoint/2010/main" val="38837381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2AFD0-0934-EC1F-6CEE-005BD169CD5E}"/>
              </a:ext>
            </a:extLst>
          </p:cNvPr>
          <p:cNvSpPr>
            <a:spLocks noGrp="1"/>
          </p:cNvSpPr>
          <p:nvPr>
            <p:ph type="title"/>
          </p:nvPr>
        </p:nvSpPr>
        <p:spPr/>
        <p:txBody>
          <a:bodyPr>
            <a:normAutofit/>
          </a:bodyPr>
          <a:lstStyle/>
          <a:p>
            <a:r>
              <a:rPr lang="en-US" sz="2800" b="1" dirty="0">
                <a:solidFill>
                  <a:schemeClr val="tx1"/>
                </a:solidFill>
                <a:latin typeface="Times New Roman"/>
                <a:cs typeface="Arial"/>
              </a:rPr>
              <a:t>CONTENTS</a:t>
            </a:r>
            <a:endParaRPr lang="en-IN" sz="2800" dirty="0">
              <a:solidFill>
                <a:schemeClr val="tx1"/>
              </a:solidFill>
            </a:endParaRPr>
          </a:p>
        </p:txBody>
      </p:sp>
      <p:sp>
        <p:nvSpPr>
          <p:cNvPr id="3" name="Content Placeholder 2">
            <a:extLst>
              <a:ext uri="{FF2B5EF4-FFF2-40B4-BE49-F238E27FC236}">
                <a16:creationId xmlns:a16="http://schemas.microsoft.com/office/drawing/2014/main" id="{6FF25DDB-909A-34D6-70D9-C2D4760972C9}"/>
              </a:ext>
            </a:extLst>
          </p:cNvPr>
          <p:cNvSpPr>
            <a:spLocks noGrp="1"/>
          </p:cNvSpPr>
          <p:nvPr>
            <p:ph idx="1"/>
          </p:nvPr>
        </p:nvSpPr>
        <p:spPr>
          <a:xfrm>
            <a:off x="2438400" y="1369282"/>
            <a:ext cx="10515600" cy="4864608"/>
          </a:xfrm>
        </p:spPr>
        <p:txBody>
          <a:bodyPr>
            <a:normAutofit/>
          </a:bodyPr>
          <a:lstStyle/>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Introduction and Overview of the project (Abstract)</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Existing System</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Disadvantages</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Proposed System</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Advantages</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Hardware and Software requirements</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Novelty of your Project</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Architecture</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Modules </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UML Diagrams</a:t>
            </a:r>
          </a:p>
          <a:p>
            <a:pPr>
              <a:buFont typeface="Wingdings" panose="05000000000000000000" pitchFamily="2" charset="2"/>
              <a:buChar char="§"/>
            </a:pPr>
            <a:endParaRPr lang="en-IN" dirty="0"/>
          </a:p>
        </p:txBody>
      </p:sp>
      <p:pic>
        <p:nvPicPr>
          <p:cNvPr id="4" name="Picture 3">
            <a:extLst>
              <a:ext uri="{FF2B5EF4-FFF2-40B4-BE49-F238E27FC236}">
                <a16:creationId xmlns:a16="http://schemas.microsoft.com/office/drawing/2014/main" id="{AB5DDFB7-FA56-0E14-8059-5A304B6432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01300" y="186996"/>
            <a:ext cx="1279526" cy="1267281"/>
          </a:xfrm>
          <a:prstGeom prst="rect">
            <a:avLst/>
          </a:prstGeom>
        </p:spPr>
      </p:pic>
    </p:spTree>
    <p:extLst>
      <p:ext uri="{BB962C8B-B14F-4D97-AF65-F5344CB8AC3E}">
        <p14:creationId xmlns:p14="http://schemas.microsoft.com/office/powerpoint/2010/main" val="24679203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C1914-BBAA-20F1-5BEA-EE38A57CF293}"/>
              </a:ext>
            </a:extLst>
          </p:cNvPr>
          <p:cNvSpPr>
            <a:spLocks noGrp="1"/>
          </p:cNvSpPr>
          <p:nvPr>
            <p:ph type="title"/>
          </p:nvPr>
        </p:nvSpPr>
        <p:spPr>
          <a:xfrm>
            <a:off x="2025205" y="661988"/>
            <a:ext cx="7880795" cy="604838"/>
          </a:xfrm>
        </p:spPr>
        <p:txBody>
          <a:bodyPr>
            <a:normAutofit/>
          </a:bodyPr>
          <a:lstStyle/>
          <a:p>
            <a:pPr algn="ctr"/>
            <a:r>
              <a:rPr lang="en-US" sz="2800" b="1" dirty="0">
                <a:solidFill>
                  <a:schemeClr val="tx1"/>
                </a:solidFill>
                <a:latin typeface="Times New Roman" panose="02020603050405020304" pitchFamily="18" charset="0"/>
                <a:cs typeface="Times New Roman" panose="02020603050405020304" pitchFamily="18" charset="0"/>
              </a:rPr>
              <a:t>INTRODUCTION AND OVERVIEW</a:t>
            </a:r>
          </a:p>
        </p:txBody>
      </p:sp>
      <p:sp>
        <p:nvSpPr>
          <p:cNvPr id="3" name="Content Placeholder 2">
            <a:extLst>
              <a:ext uri="{FF2B5EF4-FFF2-40B4-BE49-F238E27FC236}">
                <a16:creationId xmlns:a16="http://schemas.microsoft.com/office/drawing/2014/main" id="{E867FEB0-7B08-3273-5B22-FC79983F36CC}"/>
              </a:ext>
            </a:extLst>
          </p:cNvPr>
          <p:cNvSpPr>
            <a:spLocks noGrp="1"/>
          </p:cNvSpPr>
          <p:nvPr>
            <p:ph idx="1"/>
          </p:nvPr>
        </p:nvSpPr>
        <p:spPr>
          <a:xfrm>
            <a:off x="1739455" y="1641411"/>
            <a:ext cx="9639299" cy="3178239"/>
          </a:xfrm>
        </p:spPr>
        <p:txBody>
          <a:bodyPr>
            <a:noAutofit/>
          </a:bodyPr>
          <a:lstStyle/>
          <a:p>
            <a:pPr marL="0" indent="0">
              <a:buNone/>
            </a:pPr>
            <a:r>
              <a:rPr lang="en-US" sz="2000" dirty="0">
                <a:latin typeface="Times New Roman" panose="02020603050405020304" pitchFamily="18" charset="0"/>
                <a:cs typeface="Times New Roman" panose="02020603050405020304" pitchFamily="18" charset="0"/>
              </a:rPr>
              <a:t>Academic institutions generate large volumes of student performance data, but most existing systems only store information without providing meaningful analysis or predictions.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This project proposes a Centralized Academic Performance Platform that collects student academic data and applies Machine Learning algorithms to analyze and predict student performance.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The system classifies students into categories such as Good, Fair, and Poor, helping faculty and administrators identify weak students early and take corrective actions.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It also provides separate dashboards for Admin, Faculty, and Students, improving transparency, communication, and decision-making.</a:t>
            </a:r>
          </a:p>
        </p:txBody>
      </p:sp>
      <p:pic>
        <p:nvPicPr>
          <p:cNvPr id="4" name="Picture 3">
            <a:extLst>
              <a:ext uri="{FF2B5EF4-FFF2-40B4-BE49-F238E27FC236}">
                <a16:creationId xmlns:a16="http://schemas.microsoft.com/office/drawing/2014/main" id="{FDAA5ADF-AFEC-1E4B-A168-CAC77733A8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01300" y="177471"/>
            <a:ext cx="1279526" cy="1267281"/>
          </a:xfrm>
          <a:prstGeom prst="rect">
            <a:avLst/>
          </a:prstGeom>
        </p:spPr>
      </p:pic>
    </p:spTree>
    <p:extLst>
      <p:ext uri="{BB962C8B-B14F-4D97-AF65-F5344CB8AC3E}">
        <p14:creationId xmlns:p14="http://schemas.microsoft.com/office/powerpoint/2010/main" val="14024736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07A3C-CD39-9A4F-684B-2323AB114CF5}"/>
              </a:ext>
            </a:extLst>
          </p:cNvPr>
          <p:cNvSpPr>
            <a:spLocks noGrp="1"/>
          </p:cNvSpPr>
          <p:nvPr>
            <p:ph type="title"/>
          </p:nvPr>
        </p:nvSpPr>
        <p:spPr>
          <a:xfrm>
            <a:off x="374904" y="365125"/>
            <a:ext cx="10585704" cy="1325563"/>
          </a:xfrm>
        </p:spPr>
        <p:txBody>
          <a:bodyPr>
            <a:normAutofit/>
          </a:bodyPr>
          <a:lstStyle/>
          <a:p>
            <a:pPr algn="ctr"/>
            <a:r>
              <a:rPr lang="en-US" sz="2800" b="1" dirty="0">
                <a:solidFill>
                  <a:schemeClr val="tx1"/>
                </a:solidFill>
                <a:latin typeface="Times New Roman" panose="02020603050405020304" pitchFamily="18" charset="0"/>
                <a:cs typeface="Times New Roman" panose="02020603050405020304" pitchFamily="18" charset="0"/>
              </a:rPr>
              <a:t>EXISTING SYSTEM</a:t>
            </a:r>
            <a:endParaRPr lang="en-IN" sz="2800" b="1" dirty="0">
              <a:solidFill>
                <a:schemeClr val="tx1"/>
              </a:solidFill>
            </a:endParaRPr>
          </a:p>
        </p:txBody>
      </p:sp>
      <p:sp>
        <p:nvSpPr>
          <p:cNvPr id="3" name="Content Placeholder 2">
            <a:extLst>
              <a:ext uri="{FF2B5EF4-FFF2-40B4-BE49-F238E27FC236}">
                <a16:creationId xmlns:a16="http://schemas.microsoft.com/office/drawing/2014/main" id="{16E89A8C-9F66-0F3D-91AF-65821DE3E02A}"/>
              </a:ext>
            </a:extLst>
          </p:cNvPr>
          <p:cNvSpPr>
            <a:spLocks noGrp="1"/>
          </p:cNvSpPr>
          <p:nvPr>
            <p:ph idx="1"/>
          </p:nvPr>
        </p:nvSpPr>
        <p:spPr>
          <a:xfrm>
            <a:off x="1981200" y="1352169"/>
            <a:ext cx="9659112" cy="4796219"/>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The existing academic management systems mainly focus on:</a:t>
            </a:r>
          </a:p>
          <a:p>
            <a:r>
              <a:rPr lang="en-US" sz="2000" dirty="0">
                <a:latin typeface="Times New Roman" panose="02020603050405020304" pitchFamily="18" charset="0"/>
                <a:cs typeface="Times New Roman" panose="02020603050405020304" pitchFamily="18" charset="0"/>
              </a:rPr>
              <a:t>Storing student records</a:t>
            </a:r>
          </a:p>
          <a:p>
            <a:r>
              <a:rPr lang="en-US" sz="2000" dirty="0">
                <a:latin typeface="Times New Roman" panose="02020603050405020304" pitchFamily="18" charset="0"/>
                <a:cs typeface="Times New Roman" panose="02020603050405020304" pitchFamily="18" charset="0"/>
              </a:rPr>
              <a:t>Displaying marks and attendance</a:t>
            </a:r>
          </a:p>
          <a:p>
            <a:r>
              <a:rPr lang="en-US" sz="2000" dirty="0">
                <a:latin typeface="Times New Roman" panose="02020603050405020304" pitchFamily="18" charset="0"/>
                <a:cs typeface="Times New Roman" panose="02020603050405020304" pitchFamily="18" charset="0"/>
              </a:rPr>
              <a:t>Manual performance analysis by faculty</a:t>
            </a:r>
          </a:p>
          <a:p>
            <a:r>
              <a:rPr lang="en-US" sz="2000" dirty="0">
                <a:latin typeface="Times New Roman" panose="02020603050405020304" pitchFamily="18" charset="0"/>
                <a:cs typeface="Times New Roman" panose="02020603050405020304" pitchFamily="18" charset="0"/>
              </a:rPr>
              <a:t>Most systems do not support intelligent prediction, trend analysis, or early warnings for poor performance.</a:t>
            </a:r>
          </a:p>
          <a:p>
            <a:endParaRPr lang="en-IN" sz="2000" dirty="0"/>
          </a:p>
        </p:txBody>
      </p:sp>
      <p:pic>
        <p:nvPicPr>
          <p:cNvPr id="4" name="Picture 3">
            <a:extLst>
              <a:ext uri="{FF2B5EF4-FFF2-40B4-BE49-F238E27FC236}">
                <a16:creationId xmlns:a16="http://schemas.microsoft.com/office/drawing/2014/main" id="{51B064D4-5043-1A74-4A5D-C29B17B3F9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01300" y="177471"/>
            <a:ext cx="1279526" cy="1267281"/>
          </a:xfrm>
          <a:prstGeom prst="rect">
            <a:avLst/>
          </a:prstGeom>
        </p:spPr>
      </p:pic>
    </p:spTree>
    <p:extLst>
      <p:ext uri="{BB962C8B-B14F-4D97-AF65-F5344CB8AC3E}">
        <p14:creationId xmlns:p14="http://schemas.microsoft.com/office/powerpoint/2010/main" val="4053534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F5352-2286-564A-AC7F-C581CA6CBB53}"/>
              </a:ext>
            </a:extLst>
          </p:cNvPr>
          <p:cNvSpPr>
            <a:spLocks noGrp="1"/>
          </p:cNvSpPr>
          <p:nvPr>
            <p:ph type="title"/>
          </p:nvPr>
        </p:nvSpPr>
        <p:spPr>
          <a:xfrm>
            <a:off x="838200" y="438277"/>
            <a:ext cx="10515600" cy="1325563"/>
          </a:xfrm>
        </p:spPr>
        <p:txBody>
          <a:bodyPr>
            <a:normAutofit/>
          </a:bodyPr>
          <a:lstStyle/>
          <a:p>
            <a:pPr algn="ctr"/>
            <a:r>
              <a:rPr lang="en-US" sz="2800" b="1" dirty="0">
                <a:solidFill>
                  <a:schemeClr val="tx1"/>
                </a:solidFill>
                <a:latin typeface="Times New Roman" panose="02020603050405020304" pitchFamily="18" charset="0"/>
                <a:cs typeface="Times New Roman" panose="02020603050405020304" pitchFamily="18" charset="0"/>
              </a:rPr>
              <a:t>DISADVANTAGES</a:t>
            </a:r>
            <a:endParaRPr lang="en-IN" sz="2800" b="1" dirty="0">
              <a:solidFill>
                <a:schemeClr val="tx1"/>
              </a:solidFill>
            </a:endParaRPr>
          </a:p>
        </p:txBody>
      </p:sp>
      <p:sp>
        <p:nvSpPr>
          <p:cNvPr id="5" name="Rectangle 2">
            <a:extLst>
              <a:ext uri="{FF2B5EF4-FFF2-40B4-BE49-F238E27FC236}">
                <a16:creationId xmlns:a16="http://schemas.microsoft.com/office/drawing/2014/main" id="{6072D59A-1C55-1BBD-CE60-D54798F7D6DF}"/>
              </a:ext>
            </a:extLst>
          </p:cNvPr>
          <p:cNvSpPr>
            <a:spLocks noGrp="1" noChangeArrowheads="1"/>
          </p:cNvSpPr>
          <p:nvPr>
            <p:ph idx="1"/>
          </p:nvPr>
        </p:nvSpPr>
        <p:spPr bwMode="auto">
          <a:xfrm>
            <a:off x="1828800" y="1233378"/>
            <a:ext cx="7391400" cy="2345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performance prediction or analytics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 evaluation consumes time and effort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Difficult to identify weak students early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centralized communication platform</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data-driven decision support</a:t>
            </a:r>
          </a:p>
        </p:txBody>
      </p:sp>
      <p:pic>
        <p:nvPicPr>
          <p:cNvPr id="6" name="Picture 5">
            <a:extLst>
              <a:ext uri="{FF2B5EF4-FFF2-40B4-BE49-F238E27FC236}">
                <a16:creationId xmlns:a16="http://schemas.microsoft.com/office/drawing/2014/main" id="{58FA435F-6E0E-875A-90E9-DC1E1AF9F5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01300" y="177471"/>
            <a:ext cx="1279526" cy="1267281"/>
          </a:xfrm>
          <a:prstGeom prst="rect">
            <a:avLst/>
          </a:prstGeom>
        </p:spPr>
      </p:pic>
    </p:spTree>
    <p:extLst>
      <p:ext uri="{BB962C8B-B14F-4D97-AF65-F5344CB8AC3E}">
        <p14:creationId xmlns:p14="http://schemas.microsoft.com/office/powerpoint/2010/main" val="7413280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573DB-321F-5A06-D49B-77374AE7795C}"/>
              </a:ext>
            </a:extLst>
          </p:cNvPr>
          <p:cNvSpPr>
            <a:spLocks noGrp="1"/>
          </p:cNvSpPr>
          <p:nvPr>
            <p:ph type="title"/>
          </p:nvPr>
        </p:nvSpPr>
        <p:spPr>
          <a:xfrm>
            <a:off x="838200" y="346837"/>
            <a:ext cx="10515600" cy="1325563"/>
          </a:xfrm>
        </p:spPr>
        <p:txBody>
          <a:bodyPr>
            <a:normAutofit/>
          </a:bodyPr>
          <a:lstStyle/>
          <a:p>
            <a:pPr algn="ctr"/>
            <a:r>
              <a:rPr lang="en-US" sz="2800" b="1" dirty="0">
                <a:solidFill>
                  <a:schemeClr val="tx1"/>
                </a:solidFill>
                <a:latin typeface="Times New Roman" panose="02020603050405020304" pitchFamily="18" charset="0"/>
                <a:cs typeface="Times New Roman" panose="02020603050405020304" pitchFamily="18" charset="0"/>
              </a:rPr>
              <a:t>PROPOSED SYSTEM</a:t>
            </a:r>
            <a:endParaRPr lang="en-IN" sz="2800" b="1" dirty="0">
              <a:solidFill>
                <a:schemeClr val="tx1"/>
              </a:solidFill>
            </a:endParaRPr>
          </a:p>
        </p:txBody>
      </p:sp>
      <p:sp>
        <p:nvSpPr>
          <p:cNvPr id="3" name="Content Placeholder 2">
            <a:extLst>
              <a:ext uri="{FF2B5EF4-FFF2-40B4-BE49-F238E27FC236}">
                <a16:creationId xmlns:a16="http://schemas.microsoft.com/office/drawing/2014/main" id="{2A028253-532C-EA69-069C-11499C0A1CB5}"/>
              </a:ext>
            </a:extLst>
          </p:cNvPr>
          <p:cNvSpPr>
            <a:spLocks noGrp="1"/>
          </p:cNvSpPr>
          <p:nvPr>
            <p:ph idx="1"/>
          </p:nvPr>
        </p:nvSpPr>
        <p:spPr>
          <a:xfrm>
            <a:off x="1371600" y="1412367"/>
            <a:ext cx="10515600" cy="4640771"/>
          </a:xfrm>
        </p:spPr>
        <p:txBody>
          <a:bodyPr>
            <a:normAutofit/>
          </a:bodyPr>
          <a:lstStyle/>
          <a:p>
            <a:pPr marL="342900" indent="-342900"/>
            <a:r>
              <a:rPr lang="en-US" sz="2000" dirty="0">
                <a:latin typeface="Times New Roman" panose="02020603050405020304" pitchFamily="18" charset="0"/>
                <a:cs typeface="Times New Roman" panose="02020603050405020304" pitchFamily="18" charset="0"/>
              </a:rPr>
              <a:t>The proposed centralized student-faculty platform integrates academic tracking, communication, and predictive analytics in one portal.</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It employs </a:t>
            </a:r>
            <a:r>
              <a:rPr lang="en-US" sz="2000" dirty="0" err="1">
                <a:latin typeface="Times New Roman" panose="02020603050405020304" pitchFamily="18" charset="0"/>
                <a:cs typeface="Times New Roman" panose="02020603050405020304" pitchFamily="18" charset="0"/>
              </a:rPr>
              <a:t>XGBoost</a:t>
            </a:r>
            <a:r>
              <a:rPr lang="en-US" sz="2000" dirty="0">
                <a:latin typeface="Times New Roman" panose="02020603050405020304" pitchFamily="18" charset="0"/>
                <a:cs typeface="Times New Roman" panose="02020603050405020304" pitchFamily="18" charset="0"/>
              </a:rPr>
              <a:t> and Naïve Bayes models to predict student performance levels, providing actionable insights with high accuracy.</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The platform enables:</a:t>
            </a:r>
          </a:p>
          <a:p>
            <a:pPr marL="342900" indent="-342900"/>
            <a:r>
              <a:rPr lang="en-US" sz="2000" dirty="0">
                <a:latin typeface="Times New Roman" panose="02020603050405020304" pitchFamily="18" charset="0"/>
                <a:cs typeface="Times New Roman" panose="02020603050405020304" pitchFamily="18" charset="0"/>
              </a:rPr>
              <a:t>Role-based dashboards for Admin, Faculty, and Students.</a:t>
            </a:r>
          </a:p>
          <a:p>
            <a:pPr marL="342900" indent="-342900"/>
            <a:r>
              <a:rPr lang="en-US" sz="2000" dirty="0">
                <a:latin typeface="Times New Roman" panose="02020603050405020304" pitchFamily="18" charset="0"/>
                <a:cs typeface="Times New Roman" panose="02020603050405020304" pitchFamily="18" charset="0"/>
              </a:rPr>
              <a:t>Automated notifications, attendance and mark management, and performance visualization.</a:t>
            </a:r>
          </a:p>
          <a:p>
            <a:pPr marL="342900" indent="-342900"/>
            <a:r>
              <a:rPr lang="en-US" sz="2000" dirty="0">
                <a:latin typeface="Times New Roman" panose="02020603050405020304" pitchFamily="18" charset="0"/>
                <a:cs typeface="Times New Roman" panose="02020603050405020304" pitchFamily="18" charset="0"/>
              </a:rPr>
              <a:t>Faculty suggestions based on ratings and reviews.</a:t>
            </a:r>
          </a:p>
          <a:p>
            <a:pPr marL="342900" indent="-342900"/>
            <a:r>
              <a:rPr lang="en-US" sz="2000" dirty="0">
                <a:latin typeface="Times New Roman" panose="02020603050405020304" pitchFamily="18" charset="0"/>
                <a:cs typeface="Times New Roman" panose="02020603050405020304" pitchFamily="18" charset="0"/>
              </a:rPr>
              <a:t>Structured feedback and faculty capacity control.</a:t>
            </a:r>
          </a:p>
          <a:p>
            <a:pPr marL="342900" indent="-342900"/>
            <a:r>
              <a:rPr lang="en-US" sz="2000" dirty="0">
                <a:latin typeface="Times New Roman" panose="02020603050405020304" pitchFamily="18" charset="0"/>
                <a:cs typeface="Times New Roman" panose="02020603050405020304" pitchFamily="18" charset="0"/>
              </a:rPr>
              <a:t>This system promotes proactive academic management and collaborative learning environments.</a:t>
            </a:r>
          </a:p>
          <a:p>
            <a:endParaRPr lang="en-IN" sz="2000" dirty="0"/>
          </a:p>
        </p:txBody>
      </p:sp>
      <p:pic>
        <p:nvPicPr>
          <p:cNvPr id="4" name="Picture 3">
            <a:extLst>
              <a:ext uri="{FF2B5EF4-FFF2-40B4-BE49-F238E27FC236}">
                <a16:creationId xmlns:a16="http://schemas.microsoft.com/office/drawing/2014/main" id="{FE3B9259-1237-8999-A688-E1D528E1D9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01300" y="177471"/>
            <a:ext cx="1279526" cy="1267281"/>
          </a:xfrm>
          <a:prstGeom prst="rect">
            <a:avLst/>
          </a:prstGeom>
        </p:spPr>
      </p:pic>
    </p:spTree>
    <p:extLst>
      <p:ext uri="{BB962C8B-B14F-4D97-AF65-F5344CB8AC3E}">
        <p14:creationId xmlns:p14="http://schemas.microsoft.com/office/powerpoint/2010/main" val="1086688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A7655-4BA5-2F65-6F93-E94029368020}"/>
              </a:ext>
            </a:extLst>
          </p:cNvPr>
          <p:cNvSpPr>
            <a:spLocks noGrp="1"/>
          </p:cNvSpPr>
          <p:nvPr>
            <p:ph type="title"/>
          </p:nvPr>
        </p:nvSpPr>
        <p:spPr>
          <a:xfrm>
            <a:off x="911352" y="365125"/>
            <a:ext cx="10515600" cy="997331"/>
          </a:xfrm>
        </p:spPr>
        <p:txBody>
          <a:bodyPr>
            <a:normAutofit/>
          </a:bodyPr>
          <a:lstStyle/>
          <a:p>
            <a:pPr algn="ctr"/>
            <a:r>
              <a:rPr lang="en-US" sz="2800" b="1" dirty="0">
                <a:solidFill>
                  <a:schemeClr val="tx1"/>
                </a:solidFill>
                <a:latin typeface="Times New Roman" panose="02020603050405020304" pitchFamily="18" charset="0"/>
                <a:cs typeface="Times New Roman" panose="02020603050405020304" pitchFamily="18" charset="0"/>
              </a:rPr>
              <a:t>ADVANTAGES</a:t>
            </a:r>
            <a:endParaRPr lang="en-IN" sz="2800" b="1" dirty="0">
              <a:solidFill>
                <a:schemeClr val="tx1"/>
              </a:solidFill>
            </a:endParaRPr>
          </a:p>
        </p:txBody>
      </p:sp>
      <p:sp>
        <p:nvSpPr>
          <p:cNvPr id="6" name="Rectangle 3">
            <a:extLst>
              <a:ext uri="{FF2B5EF4-FFF2-40B4-BE49-F238E27FC236}">
                <a16:creationId xmlns:a16="http://schemas.microsoft.com/office/drawing/2014/main" id="{D6228EF6-C6E3-3435-5B6D-F97205EB981E}"/>
              </a:ext>
            </a:extLst>
          </p:cNvPr>
          <p:cNvSpPr>
            <a:spLocks noGrp="1" noChangeArrowheads="1"/>
          </p:cNvSpPr>
          <p:nvPr>
            <p:ph idx="1"/>
          </p:nvPr>
        </p:nvSpPr>
        <p:spPr bwMode="auto">
          <a:xfrm>
            <a:off x="1914525" y="1362456"/>
            <a:ext cx="6295313" cy="2345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Accurate prediction of student performance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Early identification of academically weak students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Reduced manual effort for faculty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Centralized and structured data management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Improved academic outcomes through data-driven insights</a:t>
            </a:r>
          </a:p>
        </p:txBody>
      </p:sp>
      <p:pic>
        <p:nvPicPr>
          <p:cNvPr id="7" name="Picture 6">
            <a:extLst>
              <a:ext uri="{FF2B5EF4-FFF2-40B4-BE49-F238E27FC236}">
                <a16:creationId xmlns:a16="http://schemas.microsoft.com/office/drawing/2014/main" id="{2733AE67-A60B-5605-B6DD-44F889D427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01300" y="177471"/>
            <a:ext cx="1279526" cy="1267281"/>
          </a:xfrm>
          <a:prstGeom prst="rect">
            <a:avLst/>
          </a:prstGeom>
        </p:spPr>
      </p:pic>
    </p:spTree>
    <p:extLst>
      <p:ext uri="{BB962C8B-B14F-4D97-AF65-F5344CB8AC3E}">
        <p14:creationId xmlns:p14="http://schemas.microsoft.com/office/powerpoint/2010/main" val="28896426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99FF9-13FF-DA77-951F-81B1638B6AD5}"/>
              </a:ext>
            </a:extLst>
          </p:cNvPr>
          <p:cNvSpPr>
            <a:spLocks noGrp="1"/>
          </p:cNvSpPr>
          <p:nvPr>
            <p:ph type="title"/>
          </p:nvPr>
        </p:nvSpPr>
        <p:spPr>
          <a:xfrm>
            <a:off x="1706831" y="452437"/>
            <a:ext cx="8332519" cy="640445"/>
          </a:xfrm>
        </p:spPr>
        <p:txBody>
          <a:bodyPr>
            <a:normAutofit/>
          </a:bodyPr>
          <a:lstStyle/>
          <a:p>
            <a:pPr algn="ctr"/>
            <a:r>
              <a:rPr lang="en-US" sz="2800" b="1" dirty="0">
                <a:solidFill>
                  <a:schemeClr val="tx1"/>
                </a:solidFill>
                <a:latin typeface="Times New Roman" panose="02020603050405020304" pitchFamily="18" charset="0"/>
                <a:cs typeface="Times New Roman" panose="02020603050405020304" pitchFamily="18" charset="0"/>
              </a:rPr>
              <a:t>HARDWARE AND SOFTWARE REQUIREMENTS</a:t>
            </a:r>
            <a:endParaRPr lang="en-IN" sz="2800" b="1" dirty="0">
              <a:solidFill>
                <a:schemeClr val="tx1"/>
              </a:solidFill>
            </a:endParaRPr>
          </a:p>
        </p:txBody>
      </p:sp>
      <p:sp>
        <p:nvSpPr>
          <p:cNvPr id="3" name="Content Placeholder 2">
            <a:extLst>
              <a:ext uri="{FF2B5EF4-FFF2-40B4-BE49-F238E27FC236}">
                <a16:creationId xmlns:a16="http://schemas.microsoft.com/office/drawing/2014/main" id="{2C133041-9CEE-E9C5-1E94-B179E4313209}"/>
              </a:ext>
            </a:extLst>
          </p:cNvPr>
          <p:cNvSpPr>
            <a:spLocks noGrp="1"/>
          </p:cNvSpPr>
          <p:nvPr>
            <p:ph idx="1"/>
          </p:nvPr>
        </p:nvSpPr>
        <p:spPr>
          <a:xfrm>
            <a:off x="1676400" y="1092882"/>
            <a:ext cx="10515600" cy="4732211"/>
          </a:xfrm>
        </p:spPr>
        <p:txBody>
          <a:bodyPr>
            <a:noAutofit/>
          </a:bodyPr>
          <a:lstStyle/>
          <a:p>
            <a:r>
              <a:rPr lang="en-IN" sz="1900" b="1" dirty="0">
                <a:latin typeface="Times New Roman" panose="02020603050405020304" pitchFamily="18" charset="0"/>
                <a:cs typeface="Times New Roman" panose="02020603050405020304" pitchFamily="18" charset="0"/>
              </a:rPr>
              <a:t>Hardware Requirements: </a:t>
            </a:r>
          </a:p>
          <a:p>
            <a:r>
              <a:rPr lang="en-IN" sz="1900" dirty="0">
                <a:latin typeface="Times New Roman" panose="02020603050405020304" pitchFamily="18" charset="0"/>
                <a:cs typeface="Times New Roman" panose="02020603050405020304" pitchFamily="18" charset="0"/>
              </a:rPr>
              <a:t>Processor: Intel i3 or above</a:t>
            </a:r>
          </a:p>
          <a:p>
            <a:r>
              <a:rPr lang="en-IN" sz="1900" dirty="0">
                <a:latin typeface="Times New Roman" panose="02020603050405020304" pitchFamily="18" charset="0"/>
                <a:cs typeface="Times New Roman" panose="02020603050405020304" pitchFamily="18" charset="0"/>
              </a:rPr>
              <a:t>RAM: Minimum 8 GB</a:t>
            </a:r>
          </a:p>
          <a:p>
            <a:r>
              <a:rPr lang="en-IN" sz="1900" dirty="0">
                <a:latin typeface="Times New Roman" panose="02020603050405020304" pitchFamily="18" charset="0"/>
                <a:cs typeface="Times New Roman" panose="02020603050405020304" pitchFamily="18" charset="0"/>
              </a:rPr>
              <a:t>Hard Disk: 256 GB or above</a:t>
            </a:r>
          </a:p>
          <a:p>
            <a:r>
              <a:rPr lang="en-IN" sz="1900" dirty="0">
                <a:latin typeface="Times New Roman" panose="02020603050405020304" pitchFamily="18" charset="0"/>
                <a:cs typeface="Times New Roman" panose="02020603050405020304" pitchFamily="18" charset="0"/>
              </a:rPr>
              <a:t>Internet Connection</a:t>
            </a:r>
          </a:p>
          <a:p>
            <a:endParaRPr lang="en-IN" sz="1900" dirty="0">
              <a:latin typeface="Times New Roman" panose="02020603050405020304" pitchFamily="18" charset="0"/>
              <a:cs typeface="Times New Roman" panose="02020603050405020304" pitchFamily="18" charset="0"/>
            </a:endParaRPr>
          </a:p>
          <a:p>
            <a:r>
              <a:rPr lang="en-IN" sz="1900" b="1" dirty="0">
                <a:latin typeface="Times New Roman" panose="02020603050405020304" pitchFamily="18" charset="0"/>
                <a:cs typeface="Times New Roman" panose="02020603050405020304" pitchFamily="18" charset="0"/>
              </a:rPr>
              <a:t>Software Requirements</a:t>
            </a:r>
          </a:p>
          <a:p>
            <a:r>
              <a:rPr lang="en-IN" sz="1900" dirty="0">
                <a:latin typeface="Times New Roman" panose="02020603050405020304" pitchFamily="18" charset="0"/>
                <a:cs typeface="Times New Roman" panose="02020603050405020304" pitchFamily="18" charset="0"/>
              </a:rPr>
              <a:t>Operating System : Windows / Linux</a:t>
            </a:r>
          </a:p>
          <a:p>
            <a:r>
              <a:rPr lang="en-IN" sz="1900" dirty="0">
                <a:latin typeface="Times New Roman" panose="02020603050405020304" pitchFamily="18" charset="0"/>
                <a:cs typeface="Times New Roman" panose="02020603050405020304" pitchFamily="18" charset="0"/>
              </a:rPr>
              <a:t>Frontend : HTML, CSS, JavaScript, React.js</a:t>
            </a:r>
          </a:p>
          <a:p>
            <a:r>
              <a:rPr lang="en-IN" sz="1900" dirty="0">
                <a:latin typeface="Times New Roman" panose="02020603050405020304" pitchFamily="18" charset="0"/>
                <a:cs typeface="Times New Roman" panose="02020603050405020304" pitchFamily="18" charset="0"/>
              </a:rPr>
              <a:t>Backend : Python, Flask</a:t>
            </a:r>
          </a:p>
          <a:p>
            <a:r>
              <a:rPr lang="en-IN" sz="1900" dirty="0">
                <a:latin typeface="Times New Roman" panose="02020603050405020304" pitchFamily="18" charset="0"/>
                <a:cs typeface="Times New Roman" panose="02020603050405020304" pitchFamily="18" charset="0"/>
              </a:rPr>
              <a:t>Database : MySQL</a:t>
            </a:r>
          </a:p>
          <a:p>
            <a:r>
              <a:rPr lang="en-IN" sz="1900" dirty="0">
                <a:latin typeface="Times New Roman" panose="02020603050405020304" pitchFamily="18" charset="0"/>
                <a:cs typeface="Times New Roman" panose="02020603050405020304" pitchFamily="18" charset="0"/>
              </a:rPr>
              <a:t>Machine Learning : </a:t>
            </a:r>
            <a:r>
              <a:rPr lang="en-IN" sz="1900" dirty="0" err="1">
                <a:latin typeface="Times New Roman" panose="02020603050405020304" pitchFamily="18" charset="0"/>
                <a:cs typeface="Times New Roman" panose="02020603050405020304" pitchFamily="18" charset="0"/>
              </a:rPr>
              <a:t>XGBoost</a:t>
            </a:r>
            <a:r>
              <a:rPr lang="en-IN" sz="1900" dirty="0">
                <a:latin typeface="Times New Roman" panose="02020603050405020304" pitchFamily="18" charset="0"/>
                <a:cs typeface="Times New Roman" panose="02020603050405020304" pitchFamily="18" charset="0"/>
              </a:rPr>
              <a:t>, Naïve Bayes</a:t>
            </a:r>
          </a:p>
          <a:p>
            <a:r>
              <a:rPr lang="en-IN" sz="1900" dirty="0">
                <a:latin typeface="Times New Roman" panose="02020603050405020304" pitchFamily="18" charset="0"/>
                <a:cs typeface="Times New Roman" panose="02020603050405020304" pitchFamily="18" charset="0"/>
              </a:rPr>
              <a:t>Tools : VS Code</a:t>
            </a:r>
          </a:p>
          <a:p>
            <a:endParaRPr lang="en-US" sz="1900" dirty="0">
              <a:latin typeface="Times New Roman" panose="02020603050405020304" pitchFamily="18" charset="0"/>
              <a:cs typeface="Times New Roman" panose="02020603050405020304" pitchFamily="18" charset="0"/>
            </a:endParaRPr>
          </a:p>
          <a:p>
            <a:endParaRPr lang="en-IN" sz="19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8CD6E3D-C27B-5DEF-D183-7D550E8754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01300" y="177471"/>
            <a:ext cx="1279526" cy="1267281"/>
          </a:xfrm>
          <a:prstGeom prst="rect">
            <a:avLst/>
          </a:prstGeom>
        </p:spPr>
      </p:pic>
    </p:spTree>
    <p:extLst>
      <p:ext uri="{BB962C8B-B14F-4D97-AF65-F5344CB8AC3E}">
        <p14:creationId xmlns:p14="http://schemas.microsoft.com/office/powerpoint/2010/main" val="374478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94289-3FC4-C00B-F172-E4FA940C2DB7}"/>
              </a:ext>
            </a:extLst>
          </p:cNvPr>
          <p:cNvSpPr>
            <a:spLocks noGrp="1"/>
          </p:cNvSpPr>
          <p:nvPr>
            <p:ph type="title"/>
          </p:nvPr>
        </p:nvSpPr>
        <p:spPr>
          <a:xfrm>
            <a:off x="2044967" y="671735"/>
            <a:ext cx="8911687" cy="1280890"/>
          </a:xfrm>
        </p:spPr>
        <p:txBody>
          <a:bodyPr>
            <a:normAutofit/>
          </a:bodyPr>
          <a:lstStyle/>
          <a:p>
            <a:pPr algn="ctr"/>
            <a:r>
              <a:rPr lang="en-US" sz="2800" b="1" dirty="0">
                <a:solidFill>
                  <a:schemeClr val="tx1"/>
                </a:solidFill>
                <a:latin typeface="Times New Roman" panose="02020603050405020304" pitchFamily="18" charset="0"/>
                <a:cs typeface="Times New Roman" panose="02020603050405020304" pitchFamily="18" charset="0"/>
              </a:rPr>
              <a:t>NOVELTY OF YOUR PROJECT</a:t>
            </a:r>
            <a:endParaRPr lang="en-IN" sz="2800" b="1" dirty="0">
              <a:solidFill>
                <a:schemeClr val="tx1"/>
              </a:solidFill>
            </a:endParaRPr>
          </a:p>
        </p:txBody>
      </p:sp>
      <p:sp>
        <p:nvSpPr>
          <p:cNvPr id="3" name="Content Placeholder 2">
            <a:extLst>
              <a:ext uri="{FF2B5EF4-FFF2-40B4-BE49-F238E27FC236}">
                <a16:creationId xmlns:a16="http://schemas.microsoft.com/office/drawing/2014/main" id="{94193FC4-178C-17DC-F7B7-D34675EBBADD}"/>
              </a:ext>
            </a:extLst>
          </p:cNvPr>
          <p:cNvSpPr>
            <a:spLocks noGrp="1"/>
          </p:cNvSpPr>
          <p:nvPr>
            <p:ph idx="1"/>
          </p:nvPr>
        </p:nvSpPr>
        <p:spPr>
          <a:xfrm>
            <a:off x="1619249" y="1404938"/>
            <a:ext cx="9763125" cy="4486275"/>
          </a:xfrm>
        </p:spPr>
        <p:txBody>
          <a:bodyPr>
            <a:normAutofit/>
          </a:bodyPr>
          <a:lstStyle/>
          <a:p>
            <a:pPr marL="0" indent="0" algn="just">
              <a:lnSpc>
                <a:spcPct val="150000"/>
              </a:lnSpc>
              <a:buNone/>
            </a:pPr>
            <a:r>
              <a:rPr lang="en-US" sz="2000" dirty="0">
                <a:latin typeface="Times New Roman" panose="02020603050405020304" pitchFamily="18" charset="0"/>
                <a:cs typeface="Times New Roman" panose="02020603050405020304" pitchFamily="18" charset="0"/>
              </a:rPr>
              <a:t>	The novelty of this project lies in the use of machine learning techniques to predict and categorize student academic performance at an early stage. Unlike traditional academic systems that only store and display data, this system analyzes student marks, attendance, and internal assessments to classify students into Good, Fair, and Poor categories. The project provides role-based dashboards for administrators, faculty, and students, enabling data-driven decision-making and timely academic intervention. By integrating centralized data management with intelligent prediction and performance monitoring, the system improves academic outcomes and supports proactive learning management.</a:t>
            </a:r>
            <a:endParaRPr lang="en-IN"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B0A3207-1174-00BC-38DA-740A8DE2B8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01300" y="177471"/>
            <a:ext cx="1279526" cy="1267281"/>
          </a:xfrm>
          <a:prstGeom prst="rect">
            <a:avLst/>
          </a:prstGeom>
        </p:spPr>
      </p:pic>
    </p:spTree>
    <p:extLst>
      <p:ext uri="{BB962C8B-B14F-4D97-AF65-F5344CB8AC3E}">
        <p14:creationId xmlns:p14="http://schemas.microsoft.com/office/powerpoint/2010/main" val="1943758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73A11-9B0E-4B60-073B-409F6665857B}"/>
              </a:ext>
            </a:extLst>
          </p:cNvPr>
          <p:cNvSpPr>
            <a:spLocks noGrp="1"/>
          </p:cNvSpPr>
          <p:nvPr>
            <p:ph type="title"/>
          </p:nvPr>
        </p:nvSpPr>
        <p:spPr/>
        <p:txBody>
          <a:bodyPr>
            <a:normAutofit/>
          </a:bodyPr>
          <a:lstStyle/>
          <a:p>
            <a:r>
              <a:rPr lang="en-US" sz="2800" b="1" dirty="0">
                <a:latin typeface="Times New Roman" panose="02020603050405020304" pitchFamily="18" charset="0"/>
                <a:cs typeface="Times New Roman" panose="02020603050405020304" pitchFamily="18" charset="0"/>
              </a:rPr>
              <a:t>ARCHITECTURE</a:t>
            </a:r>
            <a:endParaRPr lang="en-IN" sz="2800" b="1" dirty="0"/>
          </a:p>
        </p:txBody>
      </p:sp>
      <p:pic>
        <p:nvPicPr>
          <p:cNvPr id="4" name="Picture 3">
            <a:extLst>
              <a:ext uri="{FF2B5EF4-FFF2-40B4-BE49-F238E27FC236}">
                <a16:creationId xmlns:a16="http://schemas.microsoft.com/office/drawing/2014/main" id="{AAAE2B9C-5747-0B30-DF30-9421F8EBA7F9}"/>
              </a:ext>
            </a:extLst>
          </p:cNvPr>
          <p:cNvPicPr>
            <a:picLocks noChangeAspect="1"/>
          </p:cNvPicPr>
          <p:nvPr/>
        </p:nvPicPr>
        <p:blipFill rotWithShape="1">
          <a:blip r:embed="rId2">
            <a:extLst>
              <a:ext uri="{28A0092B-C50C-407E-A947-70E740481C1C}">
                <a14:useLocalDpi xmlns:a14="http://schemas.microsoft.com/office/drawing/2010/main" val="0"/>
              </a:ext>
            </a:extLst>
          </a:blip>
          <a:srcRect b="5468"/>
          <a:stretch>
            <a:fillRect/>
          </a:stretch>
        </p:blipFill>
        <p:spPr bwMode="auto">
          <a:xfrm>
            <a:off x="1805622" y="1159780"/>
            <a:ext cx="8580755" cy="5407416"/>
          </a:xfrm>
          <a:prstGeom prst="rect">
            <a:avLst/>
          </a:prstGeom>
          <a:noFill/>
          <a:ln>
            <a:noFill/>
          </a:ln>
          <a:extLst>
            <a:ext uri="{53640926-AAD7-44D8-BBD7-CCE9431645EC}">
              <a14:shadowObscured xmlns:a14="http://schemas.microsoft.com/office/drawing/2010/main"/>
            </a:ext>
          </a:extLst>
        </p:spPr>
      </p:pic>
      <p:pic>
        <p:nvPicPr>
          <p:cNvPr id="5" name="Picture 4">
            <a:extLst>
              <a:ext uri="{FF2B5EF4-FFF2-40B4-BE49-F238E27FC236}">
                <a16:creationId xmlns:a16="http://schemas.microsoft.com/office/drawing/2014/main" id="{78F3985A-315E-AF2D-4F91-0700A39366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01300" y="177471"/>
            <a:ext cx="1279526" cy="1267281"/>
          </a:xfrm>
          <a:prstGeom prst="rect">
            <a:avLst/>
          </a:prstGeom>
        </p:spPr>
      </p:pic>
    </p:spTree>
    <p:extLst>
      <p:ext uri="{BB962C8B-B14F-4D97-AF65-F5344CB8AC3E}">
        <p14:creationId xmlns:p14="http://schemas.microsoft.com/office/powerpoint/2010/main" val="8446195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8B01A-8F77-E87F-2E2F-E88971539B0C}"/>
              </a:ext>
            </a:extLst>
          </p:cNvPr>
          <p:cNvSpPr>
            <a:spLocks noGrp="1"/>
          </p:cNvSpPr>
          <p:nvPr>
            <p:ph type="title"/>
          </p:nvPr>
        </p:nvSpPr>
        <p:spPr/>
        <p:txBody>
          <a:bodyPr>
            <a:normAutofit/>
          </a:bodyPr>
          <a:lstStyle/>
          <a:p>
            <a:r>
              <a:rPr lang="en-IN" sz="3200" b="1" dirty="0">
                <a:solidFill>
                  <a:schemeClr val="tx1"/>
                </a:solidFill>
                <a:latin typeface="Times New Roman" panose="02020603050405020304" pitchFamily="18" charset="0"/>
                <a:cs typeface="Times New Roman" panose="02020603050405020304" pitchFamily="18" charset="0"/>
              </a:rPr>
              <a:t>MODULES</a:t>
            </a:r>
          </a:p>
        </p:txBody>
      </p:sp>
      <p:sp>
        <p:nvSpPr>
          <p:cNvPr id="4" name="Rectangle 1">
            <a:extLst>
              <a:ext uri="{FF2B5EF4-FFF2-40B4-BE49-F238E27FC236}">
                <a16:creationId xmlns:a16="http://schemas.microsoft.com/office/drawing/2014/main" id="{3FF766ED-EB13-57A9-4764-1DEB05AD794D}"/>
              </a:ext>
            </a:extLst>
          </p:cNvPr>
          <p:cNvSpPr>
            <a:spLocks noGrp="1" noChangeArrowheads="1"/>
          </p:cNvSpPr>
          <p:nvPr>
            <p:ph idx="1"/>
          </p:nvPr>
        </p:nvSpPr>
        <p:spPr bwMode="auto">
          <a:xfrm>
            <a:off x="2589212" y="1403972"/>
            <a:ext cx="8126413"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Admin Module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Manage students, faculty, and subjects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View overall performance analytics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Faculty Module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Upload marks and attendance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View student performance predictions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Student Module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View academic records and predicted performance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Track progress over time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 Prediction Module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Applies ML algorithms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Categorizes students based on performance</a:t>
            </a:r>
          </a:p>
        </p:txBody>
      </p:sp>
      <p:pic>
        <p:nvPicPr>
          <p:cNvPr id="5" name="Picture 4">
            <a:extLst>
              <a:ext uri="{FF2B5EF4-FFF2-40B4-BE49-F238E27FC236}">
                <a16:creationId xmlns:a16="http://schemas.microsoft.com/office/drawing/2014/main" id="{A312A4BF-8643-81DA-C5AC-AA4E609837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01300" y="177471"/>
            <a:ext cx="1279526" cy="1267281"/>
          </a:xfrm>
          <a:prstGeom prst="rect">
            <a:avLst/>
          </a:prstGeom>
        </p:spPr>
      </p:pic>
    </p:spTree>
    <p:extLst>
      <p:ext uri="{BB962C8B-B14F-4D97-AF65-F5344CB8AC3E}">
        <p14:creationId xmlns:p14="http://schemas.microsoft.com/office/powerpoint/2010/main" val="10020436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3E5E0-A928-1131-A2C9-20E5F4C557C5}"/>
              </a:ext>
            </a:extLst>
          </p:cNvPr>
          <p:cNvSpPr>
            <a:spLocks noGrp="1"/>
          </p:cNvSpPr>
          <p:nvPr>
            <p:ph type="title"/>
          </p:nvPr>
        </p:nvSpPr>
        <p:spPr>
          <a:xfrm>
            <a:off x="1715562" y="177471"/>
            <a:ext cx="3503075" cy="528415"/>
          </a:xfrm>
        </p:spPr>
        <p:txBody>
          <a:bodyPr>
            <a:normAutofit fontScale="90000"/>
          </a:bodyPr>
          <a:lstStyle/>
          <a:p>
            <a:r>
              <a:rPr lang="en-IN" sz="3200" b="1" dirty="0">
                <a:solidFill>
                  <a:schemeClr val="tx1"/>
                </a:solidFill>
                <a:latin typeface="Times New Roman" panose="02020603050405020304" pitchFamily="18" charset="0"/>
                <a:cs typeface="Times New Roman" panose="02020603050405020304" pitchFamily="18" charset="0"/>
              </a:rPr>
              <a:t>UML DIAGRAMS</a:t>
            </a:r>
          </a:p>
        </p:txBody>
      </p:sp>
      <p:sp>
        <p:nvSpPr>
          <p:cNvPr id="5" name="TextBox 4">
            <a:extLst>
              <a:ext uri="{FF2B5EF4-FFF2-40B4-BE49-F238E27FC236}">
                <a16:creationId xmlns:a16="http://schemas.microsoft.com/office/drawing/2014/main" id="{2940BFB3-7855-B90E-5EB6-CDE957EFE111}"/>
              </a:ext>
            </a:extLst>
          </p:cNvPr>
          <p:cNvSpPr txBox="1"/>
          <p:nvPr/>
        </p:nvSpPr>
        <p:spPr>
          <a:xfrm>
            <a:off x="1801287" y="920085"/>
            <a:ext cx="2543175" cy="400110"/>
          </a:xfrm>
          <a:prstGeom prst="rect">
            <a:avLst/>
          </a:prstGeom>
          <a:noFill/>
        </p:spPr>
        <p:txBody>
          <a:bodyPr wrap="square">
            <a:spAutoFit/>
          </a:bodyPr>
          <a:lstStyle/>
          <a:p>
            <a:r>
              <a:rPr lang="en-IN" sz="2000" b="1" u="sng" dirty="0">
                <a:effectLst/>
                <a:latin typeface="Times New Roman" panose="02020603050405020304" pitchFamily="18" charset="0"/>
                <a:ea typeface="DengXian" panose="02010600030101010101" pitchFamily="2" charset="-122"/>
              </a:rPr>
              <a:t>CLASS DIAGRAM</a:t>
            </a:r>
            <a:endParaRPr lang="en-IN" sz="2000" u="sng" dirty="0"/>
          </a:p>
        </p:txBody>
      </p:sp>
      <p:pic>
        <p:nvPicPr>
          <p:cNvPr id="7" name="Picture 6">
            <a:extLst>
              <a:ext uri="{FF2B5EF4-FFF2-40B4-BE49-F238E27FC236}">
                <a16:creationId xmlns:a16="http://schemas.microsoft.com/office/drawing/2014/main" id="{15B17F5C-5C3F-3398-2E89-8D221E3971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01300" y="177471"/>
            <a:ext cx="1279526" cy="1267281"/>
          </a:xfrm>
          <a:prstGeom prst="rect">
            <a:avLst/>
          </a:prstGeom>
        </p:spPr>
      </p:pic>
      <p:pic>
        <p:nvPicPr>
          <p:cNvPr id="7170" name="Picture 2" descr="PlantUML diagram">
            <a:extLst>
              <a:ext uri="{FF2B5EF4-FFF2-40B4-BE49-F238E27FC236}">
                <a16:creationId xmlns:a16="http://schemas.microsoft.com/office/drawing/2014/main" id="{DC7D090F-8877-7A7B-4F67-B46EC5BB22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1588" y="177471"/>
            <a:ext cx="3128962" cy="65540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8770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79A1F0B-34D3-B846-C9FD-18AA3FEF85D5}"/>
              </a:ext>
            </a:extLst>
          </p:cNvPr>
          <p:cNvSpPr txBox="1"/>
          <p:nvPr/>
        </p:nvSpPr>
        <p:spPr>
          <a:xfrm>
            <a:off x="1590674" y="652025"/>
            <a:ext cx="3228975" cy="458074"/>
          </a:xfrm>
          <a:prstGeom prst="rect">
            <a:avLst/>
          </a:prstGeom>
          <a:noFill/>
        </p:spPr>
        <p:txBody>
          <a:bodyPr wrap="square">
            <a:spAutoFit/>
          </a:bodyPr>
          <a:lstStyle/>
          <a:p>
            <a:pPr algn="just">
              <a:lnSpc>
                <a:spcPct val="150000"/>
              </a:lnSpc>
              <a:spcAft>
                <a:spcPts val="800"/>
              </a:spcAft>
              <a:buNone/>
            </a:pPr>
            <a:r>
              <a:rPr lang="en-IN" sz="1800" b="1" u="sng" kern="100" dirty="0">
                <a:effectLst/>
                <a:latin typeface="Times New Roman" panose="02020603050405020304" pitchFamily="18" charset="0"/>
                <a:ea typeface="DengXian" panose="02010600030101010101" pitchFamily="2" charset="-122"/>
                <a:cs typeface="Times New Roman" panose="02020603050405020304" pitchFamily="18" charset="0"/>
              </a:rPr>
              <a:t>USE CASE DIAGRAM</a:t>
            </a:r>
            <a:endParaRPr lang="en-IN" u="sng" kern="100" dirty="0">
              <a:effectLst/>
              <a:latin typeface="Times New Roman" panose="02020603050405020304" pitchFamily="18" charset="0"/>
              <a:ea typeface="DengXian" panose="02010600030101010101" pitchFamily="2" charset="-122"/>
              <a:cs typeface="Times New Roman" panose="02020603050405020304" pitchFamily="18" charset="0"/>
            </a:endParaRPr>
          </a:p>
        </p:txBody>
      </p:sp>
      <p:pic>
        <p:nvPicPr>
          <p:cNvPr id="8" name="Picture 7" descr="PlantUML diagram">
            <a:extLst>
              <a:ext uri="{FF2B5EF4-FFF2-40B4-BE49-F238E27FC236}">
                <a16:creationId xmlns:a16="http://schemas.microsoft.com/office/drawing/2014/main" id="{D508E81E-7BF6-90CC-F5EF-F319393D2479}"/>
              </a:ext>
            </a:extLst>
          </p:cNvPr>
          <p:cNvPicPr>
            <a:picLocks noChangeAspect="1"/>
          </p:cNvPicPr>
          <p:nvPr/>
        </p:nvPicPr>
        <p:blipFill>
          <a:blip r:embed="rId2">
            <a:extLst>
              <a:ext uri="{28A0092B-C50C-407E-A947-70E740481C1C}">
                <a14:useLocalDpi xmlns:a14="http://schemas.microsoft.com/office/drawing/2010/main" val="0"/>
              </a:ext>
            </a:extLst>
          </a:blip>
          <a:srcRect b="62180"/>
          <a:stretch>
            <a:fillRect/>
          </a:stretch>
        </p:blipFill>
        <p:spPr bwMode="auto">
          <a:xfrm>
            <a:off x="2122490" y="2092050"/>
            <a:ext cx="3973510" cy="4113925"/>
          </a:xfrm>
          <a:prstGeom prst="rect">
            <a:avLst/>
          </a:prstGeom>
          <a:noFill/>
          <a:ln>
            <a:noFill/>
          </a:ln>
        </p:spPr>
      </p:pic>
      <p:pic>
        <p:nvPicPr>
          <p:cNvPr id="9" name="Picture 8">
            <a:extLst>
              <a:ext uri="{FF2B5EF4-FFF2-40B4-BE49-F238E27FC236}">
                <a16:creationId xmlns:a16="http://schemas.microsoft.com/office/drawing/2014/main" id="{17CBB8F0-BE06-F957-10E7-3E2F10C917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01300" y="177471"/>
            <a:ext cx="1279526" cy="1267281"/>
          </a:xfrm>
          <a:prstGeom prst="rect">
            <a:avLst/>
          </a:prstGeom>
        </p:spPr>
      </p:pic>
      <p:pic>
        <p:nvPicPr>
          <p:cNvPr id="10" name="Picture 9" descr="PlantUML diagram">
            <a:extLst>
              <a:ext uri="{FF2B5EF4-FFF2-40B4-BE49-F238E27FC236}">
                <a16:creationId xmlns:a16="http://schemas.microsoft.com/office/drawing/2014/main" id="{09DD84DB-5484-4BDD-D097-8416774969DA}"/>
              </a:ext>
            </a:extLst>
          </p:cNvPr>
          <p:cNvPicPr>
            <a:picLocks noChangeAspect="1"/>
          </p:cNvPicPr>
          <p:nvPr/>
        </p:nvPicPr>
        <p:blipFill>
          <a:blip r:embed="rId2">
            <a:extLst>
              <a:ext uri="{28A0092B-C50C-407E-A947-70E740481C1C}">
                <a14:useLocalDpi xmlns:a14="http://schemas.microsoft.com/office/drawing/2010/main" val="0"/>
              </a:ext>
            </a:extLst>
          </a:blip>
          <a:srcRect t="37009"/>
          <a:stretch>
            <a:fillRect/>
          </a:stretch>
        </p:blipFill>
        <p:spPr bwMode="auto">
          <a:xfrm>
            <a:off x="6246974" y="1308077"/>
            <a:ext cx="3906676" cy="5272554"/>
          </a:xfrm>
          <a:prstGeom prst="rect">
            <a:avLst/>
          </a:prstGeom>
          <a:noFill/>
          <a:ln>
            <a:noFill/>
          </a:ln>
        </p:spPr>
      </p:pic>
      <p:sp>
        <p:nvSpPr>
          <p:cNvPr id="12" name="TextBox 11">
            <a:extLst>
              <a:ext uri="{FF2B5EF4-FFF2-40B4-BE49-F238E27FC236}">
                <a16:creationId xmlns:a16="http://schemas.microsoft.com/office/drawing/2014/main" id="{BE4A8187-406F-FA8D-4D39-E5C196322785}"/>
              </a:ext>
            </a:extLst>
          </p:cNvPr>
          <p:cNvSpPr txBox="1"/>
          <p:nvPr/>
        </p:nvSpPr>
        <p:spPr>
          <a:xfrm>
            <a:off x="2705100" y="1572696"/>
            <a:ext cx="2790825" cy="369332"/>
          </a:xfrm>
          <a:prstGeom prst="rect">
            <a:avLst/>
          </a:prstGeom>
          <a:noFill/>
        </p:spPr>
        <p:txBody>
          <a:bodyPr wrap="square">
            <a:spAutoFit/>
          </a:bodyPr>
          <a:lstStyle/>
          <a:p>
            <a:r>
              <a:rPr lang="en-IN" kern="100" dirty="0">
                <a:latin typeface="Times New Roman" panose="02020603050405020304" pitchFamily="18" charset="0"/>
                <a:ea typeface="DengXian" panose="02010600030101010101" pitchFamily="2" charset="-122"/>
                <a:cs typeface="Times New Roman" panose="02020603050405020304" pitchFamily="18" charset="0"/>
              </a:rPr>
              <a:t>Part 1</a:t>
            </a:r>
            <a:endParaRPr lang="en-IN" dirty="0"/>
          </a:p>
        </p:txBody>
      </p:sp>
      <p:sp>
        <p:nvSpPr>
          <p:cNvPr id="16" name="TextBox 15">
            <a:extLst>
              <a:ext uri="{FF2B5EF4-FFF2-40B4-BE49-F238E27FC236}">
                <a16:creationId xmlns:a16="http://schemas.microsoft.com/office/drawing/2014/main" id="{FA686B63-084C-B8A9-3BFC-9752ACF0BC29}"/>
              </a:ext>
            </a:extLst>
          </p:cNvPr>
          <p:cNvSpPr txBox="1"/>
          <p:nvPr/>
        </p:nvSpPr>
        <p:spPr>
          <a:xfrm>
            <a:off x="6677025" y="811111"/>
            <a:ext cx="3295650" cy="369332"/>
          </a:xfrm>
          <a:prstGeom prst="rect">
            <a:avLst/>
          </a:prstGeom>
          <a:noFill/>
        </p:spPr>
        <p:txBody>
          <a:bodyPr wrap="square">
            <a:spAutoFit/>
          </a:bodyPr>
          <a:lstStyle/>
          <a:p>
            <a:r>
              <a:rPr lang="en-IN" kern="100" dirty="0">
                <a:latin typeface="Times New Roman" panose="02020603050405020304" pitchFamily="18" charset="0"/>
                <a:ea typeface="DengXian" panose="02010600030101010101" pitchFamily="2" charset="-122"/>
                <a:cs typeface="Times New Roman" panose="02020603050405020304" pitchFamily="18" charset="0"/>
              </a:rPr>
              <a:t>Part 1</a:t>
            </a:r>
            <a:endParaRPr lang="en-IN" dirty="0"/>
          </a:p>
        </p:txBody>
      </p:sp>
    </p:spTree>
    <p:extLst>
      <p:ext uri="{BB962C8B-B14F-4D97-AF65-F5344CB8AC3E}">
        <p14:creationId xmlns:p14="http://schemas.microsoft.com/office/powerpoint/2010/main" val="27449537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D6E7E43-CA06-4EAC-383C-96676406ADA1}"/>
              </a:ext>
            </a:extLst>
          </p:cNvPr>
          <p:cNvSpPr txBox="1"/>
          <p:nvPr/>
        </p:nvSpPr>
        <p:spPr>
          <a:xfrm>
            <a:off x="4600575" y="391596"/>
            <a:ext cx="6096000" cy="400110"/>
          </a:xfrm>
          <a:prstGeom prst="rect">
            <a:avLst/>
          </a:prstGeom>
          <a:noFill/>
        </p:spPr>
        <p:txBody>
          <a:bodyPr wrap="square">
            <a:spAutoFit/>
          </a:bodyPr>
          <a:lstStyle/>
          <a:p>
            <a:r>
              <a:rPr lang="en-IN" sz="2000" b="1" u="sng" dirty="0">
                <a:effectLst/>
                <a:latin typeface="Times New Roman" panose="02020603050405020304" pitchFamily="18" charset="0"/>
                <a:ea typeface="DengXian" panose="02010600030101010101" pitchFamily="2" charset="-122"/>
                <a:cs typeface="Times New Roman" panose="02020603050405020304" pitchFamily="18" charset="0"/>
              </a:rPr>
              <a:t>SEQUENCE</a:t>
            </a:r>
            <a:r>
              <a:rPr lang="en-IN" sz="1800" b="1" u="sng" dirty="0">
                <a:effectLst/>
                <a:latin typeface="Times New Roman" panose="02020603050405020304" pitchFamily="18" charset="0"/>
                <a:ea typeface="DengXian" panose="02010600030101010101" pitchFamily="2" charset="-122"/>
                <a:cs typeface="Times New Roman" panose="02020603050405020304" pitchFamily="18" charset="0"/>
              </a:rPr>
              <a:t> DIAGRAM</a:t>
            </a:r>
            <a:endParaRPr lang="en-IN" u="sng" dirty="0">
              <a:latin typeface="Times New Roman" panose="02020603050405020304" pitchFamily="18" charset="0"/>
              <a:cs typeface="Times New Roman" panose="02020603050405020304" pitchFamily="18" charset="0"/>
            </a:endParaRPr>
          </a:p>
        </p:txBody>
      </p:sp>
      <p:pic>
        <p:nvPicPr>
          <p:cNvPr id="6" name="Picture 5" descr="PlantUML diagram">
            <a:extLst>
              <a:ext uri="{FF2B5EF4-FFF2-40B4-BE49-F238E27FC236}">
                <a16:creationId xmlns:a16="http://schemas.microsoft.com/office/drawing/2014/main" id="{6F997680-0E7D-BEA4-A170-057C56FC54F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33575" y="1407586"/>
            <a:ext cx="8763000" cy="4299468"/>
          </a:xfrm>
          <a:prstGeom prst="rect">
            <a:avLst/>
          </a:prstGeom>
          <a:noFill/>
          <a:ln>
            <a:noFill/>
          </a:ln>
        </p:spPr>
      </p:pic>
    </p:spTree>
    <p:extLst>
      <p:ext uri="{BB962C8B-B14F-4D97-AF65-F5344CB8AC3E}">
        <p14:creationId xmlns:p14="http://schemas.microsoft.com/office/powerpoint/2010/main" val="30084421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072F974-DC04-65A3-54C6-48AE7BC9567E}"/>
              </a:ext>
            </a:extLst>
          </p:cNvPr>
          <p:cNvSpPr txBox="1"/>
          <p:nvPr/>
        </p:nvSpPr>
        <p:spPr>
          <a:xfrm>
            <a:off x="4562475" y="620196"/>
            <a:ext cx="6096000" cy="400110"/>
          </a:xfrm>
          <a:prstGeom prst="rect">
            <a:avLst/>
          </a:prstGeom>
          <a:noFill/>
        </p:spPr>
        <p:txBody>
          <a:bodyPr wrap="square">
            <a:spAutoFit/>
          </a:bodyPr>
          <a:lstStyle/>
          <a:p>
            <a:r>
              <a:rPr lang="en-IN" sz="2000" b="1" u="sng" dirty="0">
                <a:effectLst/>
                <a:latin typeface="Times New Roman" panose="02020603050405020304" pitchFamily="18" charset="0"/>
                <a:ea typeface="DengXian" panose="02010600030101010101" pitchFamily="2" charset="-122"/>
              </a:rPr>
              <a:t>ACTIVITY DIAGRAM</a:t>
            </a:r>
            <a:endParaRPr lang="en-IN" sz="2000" u="sng" dirty="0"/>
          </a:p>
        </p:txBody>
      </p:sp>
      <p:pic>
        <p:nvPicPr>
          <p:cNvPr id="6" name="Picture 5" descr="PlantUML diagram">
            <a:extLst>
              <a:ext uri="{FF2B5EF4-FFF2-40B4-BE49-F238E27FC236}">
                <a16:creationId xmlns:a16="http://schemas.microsoft.com/office/drawing/2014/main" id="{60F16F81-637B-85DE-2FC5-54FBD49FEFC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28540" y="1376680"/>
            <a:ext cx="7480355" cy="5233670"/>
          </a:xfrm>
          <a:prstGeom prst="rect">
            <a:avLst/>
          </a:prstGeom>
          <a:noFill/>
          <a:ln>
            <a:noFill/>
          </a:ln>
        </p:spPr>
      </p:pic>
    </p:spTree>
    <p:extLst>
      <p:ext uri="{BB962C8B-B14F-4D97-AF65-F5344CB8AC3E}">
        <p14:creationId xmlns:p14="http://schemas.microsoft.com/office/powerpoint/2010/main" val="1931128594"/>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Wisp</Template>
  <TotalTime>179</TotalTime>
  <Words>641</Words>
  <Application>Microsoft Office PowerPoint</Application>
  <PresentationFormat>Widescreen</PresentationFormat>
  <Paragraphs>89</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Wisp</vt:lpstr>
      <vt:lpstr>CMR Technical Campus Department of IT</vt:lpstr>
      <vt:lpstr>CONTENTS</vt:lpstr>
      <vt:lpstr>INTRODUCTION AND OVERVIEW</vt:lpstr>
      <vt:lpstr>EXISTING SYSTEM</vt:lpstr>
      <vt:lpstr>DISADVANTAGES</vt:lpstr>
      <vt:lpstr>PROPOSED SYSTEM</vt:lpstr>
      <vt:lpstr>ADVANTAGES</vt:lpstr>
      <vt:lpstr>HARDWARE AND SOFTWARE REQUIREMENTS</vt:lpstr>
      <vt:lpstr>NOVELTY OF YOUR PROJECT</vt:lpstr>
      <vt:lpstr>ARCHITECTURE</vt:lpstr>
      <vt:lpstr>MODULES</vt:lpstr>
      <vt:lpstr>UML DIAGRAMS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CMR Technical Campus Department of IT</dc:title>
  <dc:creator>GANGAVARAM ABHINAV</dc:creator>
  <cp:lastModifiedBy>anjali m</cp:lastModifiedBy>
  <cp:revision>6</cp:revision>
  <dcterms:created xsi:type="dcterms:W3CDTF">2026-01-27T06:06:28Z</dcterms:created>
  <dcterms:modified xsi:type="dcterms:W3CDTF">2026-02-03T04:02:05Z</dcterms:modified>
</cp:coreProperties>
</file>