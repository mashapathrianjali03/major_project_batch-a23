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3"/>
  </p:notesMasterIdLst>
  <p:sldIdLst>
    <p:sldId id="256" r:id="rId2"/>
    <p:sldId id="277" r:id="rId3"/>
    <p:sldId id="271" r:id="rId4"/>
    <p:sldId id="272" r:id="rId5"/>
    <p:sldId id="273" r:id="rId6"/>
    <p:sldId id="274" r:id="rId7"/>
    <p:sldId id="275" r:id="rId8"/>
    <p:sldId id="268" r:id="rId9"/>
    <p:sldId id="276" r:id="rId10"/>
    <p:sldId id="270" r:id="rId11"/>
    <p:sldId id="269" r:id="rId12"/>
    <p:sldId id="278" r:id="rId13"/>
    <p:sldId id="279" r:id="rId14"/>
    <p:sldId id="280" r:id="rId15"/>
    <p:sldId id="282" r:id="rId16"/>
    <p:sldId id="281" r:id="rId17"/>
    <p:sldId id="290" r:id="rId18"/>
    <p:sldId id="295" r:id="rId19"/>
    <p:sldId id="296" r:id="rId20"/>
    <p:sldId id="297" r:id="rId21"/>
    <p:sldId id="283" r:id="rId22"/>
    <p:sldId id="284" r:id="rId23"/>
    <p:sldId id="285" r:id="rId24"/>
    <p:sldId id="286" r:id="rId25"/>
    <p:sldId id="287" r:id="rId26"/>
    <p:sldId id="288" r:id="rId27"/>
    <p:sldId id="289" r:id="rId28"/>
    <p:sldId id="291" r:id="rId29"/>
    <p:sldId id="293" r:id="rId30"/>
    <p:sldId id="292" r:id="rId31"/>
    <p:sldId id="26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B1C6AF-7633-424A-A834-CDF0F87F2927}" type="datetimeFigureOut">
              <a:rPr lang="en-IN" smtClean="0"/>
              <a:t>23-03-2026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858164-558C-4E4F-AF58-3BE9782F6B40}" type="slidenum">
              <a:rPr lang="en-IN" smtClean="0"/>
              <a:t>‹#›</a:t>
            </a:fld>
            <a:endParaRPr lang="en-IN"/>
          </a:p>
        </p:txBody>
      </p:sp>
    </p:spTree>
    <p:extLst>
      <p:ext uri="{BB962C8B-B14F-4D97-AF65-F5344CB8AC3E}">
        <p14:creationId xmlns:p14="http://schemas.microsoft.com/office/powerpoint/2010/main" val="832397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D858164-558C-4E4F-AF58-3BE9782F6B40}" type="slidenum">
              <a:rPr lang="en-IN" smtClean="0"/>
              <a:t>11</a:t>
            </a:fld>
            <a:endParaRPr lang="en-IN"/>
          </a:p>
        </p:txBody>
      </p:sp>
    </p:spTree>
    <p:extLst>
      <p:ext uri="{BB962C8B-B14F-4D97-AF65-F5344CB8AC3E}">
        <p14:creationId xmlns:p14="http://schemas.microsoft.com/office/powerpoint/2010/main" val="40332463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3/23/2026</a:t>
            </a:fld>
            <a:endParaRPr lang="en-US" dirty="0"/>
          </a:p>
        </p:txBody>
      </p:sp>
      <p:sp>
        <p:nvSpPr>
          <p:cNvPr id="5" name="Footer Placeholder 4"/>
          <p:cNvSpPr>
            <a:spLocks noGrp="1"/>
          </p:cNvSpPr>
          <p:nvPr>
            <p:ph type="ftr" sz="quarter" idx="11"/>
          </p:nvPr>
        </p:nvSpPr>
        <p:spPr>
          <a:xfrm>
            <a:off x="1127124" y="329307"/>
            <a:ext cx="5943668" cy="309201"/>
          </a:xfrm>
        </p:spPr>
        <p:txBody>
          <a:bodyPr/>
          <a:lstStyle/>
          <a:p>
            <a:endParaRPr lang="en-US" dirty="0"/>
          </a:p>
        </p:txBody>
      </p:sp>
      <p:sp>
        <p:nvSpPr>
          <p:cNvPr id="6" name="Slide Number Placeholder 5"/>
          <p:cNvSpPr>
            <a:spLocks noGrp="1"/>
          </p:cNvSpPr>
          <p:nvPr>
            <p:ph type="sldNum" sz="quarter" idx="12"/>
          </p:nvPr>
        </p:nvSpPr>
        <p:spPr>
          <a:xfrm>
            <a:off x="9924392" y="134930"/>
            <a:ext cx="811019" cy="503578"/>
          </a:xfrm>
        </p:spPr>
        <p:txBody>
          <a:bodyPr/>
          <a:lstStyle/>
          <a:p>
            <a:fld id="{6D22F896-40B5-4ADD-8801-0D06FADFA095}" type="slidenum">
              <a:rPr lang="en-US" dirty="0"/>
              <a:pPr/>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200"/>
            </a:lvl1pPr>
          </a:lstStyle>
          <a:p>
            <a:fld id="{48A87A34-81AB-432B-8DAE-1953F412C126}" type="datetimeFigureOut">
              <a:rPr lang="en-US" dirty="0"/>
              <a:pPr/>
              <a:t>3/23/2026</a:t>
            </a:fld>
            <a:endParaRPr lang="en-US" dirty="0"/>
          </a:p>
        </p:txBody>
      </p:sp>
      <p:sp>
        <p:nvSpPr>
          <p:cNvPr id="5" name="Footer Placeholder 4"/>
          <p:cNvSpPr>
            <a:spLocks noGrp="1"/>
          </p:cNvSpPr>
          <p:nvPr>
            <p:ph type="ftr" sz="quarter" idx="11"/>
          </p:nvPr>
        </p:nvSpPr>
        <p:spPr/>
        <p:txBody>
          <a:bodyPr/>
          <a:lstStyle>
            <a:lvl1pPr>
              <a:defRPr sz="1200"/>
            </a:lvl1p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pPr/>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pPr/>
              <a:t>3/23/2026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pPr/>
              <a:t>‹#›</a:t>
            </a:fld>
            <a:endParaRPr lang="en-US" dirty="0"/>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pPr/>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pPr/>
              <a:t>3/23/2026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48A87A34-81AB-432B-8DAE-1953F412C126}" type="datetimeFigureOut">
              <a:rPr lang="en-US" dirty="0"/>
              <a:pPr/>
              <a:t>3/23/2026</a:t>
            </a:fld>
            <a:endParaRPr lang="en-US" dirty="0"/>
          </a:p>
        </p:txBody>
      </p:sp>
      <p:sp>
        <p:nvSpPr>
          <p:cNvPr id="6" name="Footer Placeholder 5"/>
          <p:cNvSpPr>
            <a:spLocks noGrp="1"/>
          </p:cNvSpPr>
          <p:nvPr>
            <p:ph type="ftr" sz="quarter" idx="11"/>
          </p:nvPr>
        </p:nvSpPr>
        <p:spPr>
          <a:xfrm>
            <a:off x="1125300" y="318640"/>
            <a:ext cx="4877818" cy="320931"/>
          </a:xfrm>
        </p:spPr>
        <p:txBody>
          <a:bodyPr/>
          <a:lstStyle/>
          <a:p>
            <a:endParaRPr lang="en-US" dirty="0"/>
          </a:p>
        </p:txBody>
      </p:sp>
      <p:sp>
        <p:nvSpPr>
          <p:cNvPr id="7" name="Slide Number Placeholder 6"/>
          <p:cNvSpPr>
            <a:spLocks noGrp="1"/>
          </p:cNvSpPr>
          <p:nvPr>
            <p:ph type="sldNum" sz="quarter" idx="12"/>
          </p:nvPr>
        </p:nvSpPr>
        <p:spPr>
          <a:xfrm>
            <a:off x="6176794" y="137408"/>
            <a:ext cx="811019" cy="503578"/>
          </a:xfrm>
        </p:spPr>
        <p:txBody>
          <a:bodyPr/>
          <a:lstStyle/>
          <a:p>
            <a:fld id="{6D22F896-40B5-4ADD-8801-0D06FADFA095}" type="slidenum">
              <a:rPr lang="en-US" dirty="0"/>
              <a:pPr/>
              <a:t>‹#›</a:t>
            </a:fld>
            <a:endParaRPr lang="en-US" dirty="0"/>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3/23/2026</a:t>
            </a:fld>
            <a:endParaRPr lang="en-US" dirty="0"/>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3390/app15116316" TargetMode="External"/><Relationship Id="rId2" Type="http://schemas.openxmlformats.org/officeDocument/2006/relationships/hyperlink" Target="https://doi.org/10.3390/su15076229"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DD7FED8-3FF0-F3B5-F19A-2220941388B6}"/>
              </a:ext>
            </a:extLst>
          </p:cNvPr>
          <p:cNvSpPr txBox="1"/>
          <p:nvPr/>
        </p:nvSpPr>
        <p:spPr>
          <a:xfrm>
            <a:off x="0" y="2119852"/>
            <a:ext cx="12192000" cy="523220"/>
          </a:xfrm>
          <a:prstGeom prst="rect">
            <a:avLst/>
          </a:prstGeom>
          <a:noFill/>
        </p:spPr>
        <p:txBody>
          <a:bodyPr wrap="square" rtlCol="0">
            <a:spAutoFit/>
          </a:bodyPr>
          <a:lstStyle/>
          <a:p>
            <a:pPr marL="141605" algn="ctr">
              <a:lnSpc>
                <a:spcPct val="100000"/>
              </a:lnSpc>
              <a:spcBef>
                <a:spcPts val="1060"/>
              </a:spcBef>
            </a:pPr>
            <a:r>
              <a:rPr lang="en-US" sz="2800" b="1" dirty="0">
                <a:solidFill>
                  <a:srgbClr val="31833D"/>
                </a:solidFill>
                <a:latin typeface="Times New Roman" panose="02020603050405020304"/>
                <a:cs typeface="Times New Roman" panose="02020603050405020304"/>
              </a:rPr>
              <a:t>Department</a:t>
            </a:r>
            <a:r>
              <a:rPr lang="en-US" sz="2800" b="1" spc="85" dirty="0">
                <a:solidFill>
                  <a:srgbClr val="31833D"/>
                </a:solidFill>
                <a:latin typeface="Times New Roman" panose="02020603050405020304"/>
                <a:cs typeface="Times New Roman" panose="02020603050405020304"/>
              </a:rPr>
              <a:t> </a:t>
            </a:r>
            <a:r>
              <a:rPr lang="en-US" sz="2800" b="1" dirty="0">
                <a:solidFill>
                  <a:srgbClr val="31833D"/>
                </a:solidFill>
                <a:latin typeface="Times New Roman" panose="02020603050405020304"/>
                <a:cs typeface="Times New Roman" panose="02020603050405020304"/>
              </a:rPr>
              <a:t>of</a:t>
            </a:r>
            <a:r>
              <a:rPr lang="en-US" sz="2800" b="1" spc="65" dirty="0">
                <a:solidFill>
                  <a:srgbClr val="31833D"/>
                </a:solidFill>
                <a:latin typeface="Times New Roman" panose="02020603050405020304"/>
                <a:cs typeface="Times New Roman" panose="02020603050405020304"/>
              </a:rPr>
              <a:t> </a:t>
            </a:r>
            <a:r>
              <a:rPr lang="en-US" sz="2800" b="1" dirty="0">
                <a:solidFill>
                  <a:srgbClr val="31833D"/>
                </a:solidFill>
                <a:latin typeface="Times New Roman" panose="02020603050405020304"/>
                <a:cs typeface="Times New Roman" panose="02020603050405020304"/>
              </a:rPr>
              <a:t>Information</a:t>
            </a:r>
            <a:r>
              <a:rPr lang="en-US" sz="2800" b="1" spc="15" dirty="0">
                <a:solidFill>
                  <a:srgbClr val="31833D"/>
                </a:solidFill>
                <a:latin typeface="Times New Roman" panose="02020603050405020304"/>
                <a:cs typeface="Times New Roman" panose="02020603050405020304"/>
              </a:rPr>
              <a:t> </a:t>
            </a:r>
            <a:r>
              <a:rPr lang="en-US" sz="2800" b="1" spc="-10" dirty="0">
                <a:solidFill>
                  <a:srgbClr val="31833D"/>
                </a:solidFill>
                <a:latin typeface="Times New Roman" panose="02020603050405020304"/>
                <a:cs typeface="Times New Roman" panose="02020603050405020304"/>
              </a:rPr>
              <a:t>Technology</a:t>
            </a:r>
            <a:endParaRPr lang="en-US" sz="2800" dirty="0">
              <a:latin typeface="Times New Roman" panose="02020603050405020304"/>
              <a:cs typeface="Times New Roman" panose="02020603050405020304"/>
            </a:endParaRPr>
          </a:p>
        </p:txBody>
      </p:sp>
      <p:sp>
        <p:nvSpPr>
          <p:cNvPr id="10" name="TextBox 9">
            <a:extLst>
              <a:ext uri="{FF2B5EF4-FFF2-40B4-BE49-F238E27FC236}">
                <a16:creationId xmlns:a16="http://schemas.microsoft.com/office/drawing/2014/main" id="{2509E716-ABA0-67CF-E09A-4D36A7374B90}"/>
              </a:ext>
            </a:extLst>
          </p:cNvPr>
          <p:cNvSpPr txBox="1"/>
          <p:nvPr/>
        </p:nvSpPr>
        <p:spPr>
          <a:xfrm>
            <a:off x="157316" y="1366564"/>
            <a:ext cx="12192000" cy="646331"/>
          </a:xfrm>
          <a:prstGeom prst="rect">
            <a:avLst/>
          </a:prstGeom>
          <a:noFill/>
        </p:spPr>
        <p:txBody>
          <a:bodyPr wrap="square" rtlCol="0">
            <a:spAutoFit/>
          </a:bodyPr>
          <a:lstStyle/>
          <a:p>
            <a:pPr algn="ctr"/>
            <a:r>
              <a:rPr lang="en-IN" sz="3600" b="1" dirty="0">
                <a:solidFill>
                  <a:srgbClr val="702FA0"/>
                </a:solidFill>
                <a:latin typeface="Times New Roman" panose="02020603050405020304" pitchFamily="18" charset="0"/>
                <a:cs typeface="Times New Roman" panose="02020603050405020304" pitchFamily="18" charset="0"/>
              </a:rPr>
              <a:t>CMR</a:t>
            </a:r>
            <a:r>
              <a:rPr lang="en-IN" sz="3600" b="1" spc="-60" dirty="0">
                <a:solidFill>
                  <a:srgbClr val="702FA0"/>
                </a:solidFill>
                <a:latin typeface="Times New Roman" panose="02020603050405020304" pitchFamily="18" charset="0"/>
                <a:cs typeface="Times New Roman" panose="02020603050405020304" pitchFamily="18" charset="0"/>
              </a:rPr>
              <a:t> </a:t>
            </a:r>
            <a:r>
              <a:rPr lang="en-IN" sz="3600" b="1" spc="-25" dirty="0">
                <a:solidFill>
                  <a:srgbClr val="702FA0"/>
                </a:solidFill>
                <a:latin typeface="Times New Roman" panose="02020603050405020304" pitchFamily="18" charset="0"/>
                <a:cs typeface="Times New Roman" panose="02020603050405020304" pitchFamily="18" charset="0"/>
              </a:rPr>
              <a:t>TECHNICAL</a:t>
            </a:r>
            <a:r>
              <a:rPr lang="en-IN" sz="3600" b="1" spc="-150" dirty="0">
                <a:solidFill>
                  <a:srgbClr val="702FA0"/>
                </a:solidFill>
                <a:latin typeface="Times New Roman" panose="02020603050405020304" pitchFamily="18" charset="0"/>
                <a:cs typeface="Times New Roman" panose="02020603050405020304" pitchFamily="18" charset="0"/>
              </a:rPr>
              <a:t> </a:t>
            </a:r>
            <a:r>
              <a:rPr lang="en-IN" sz="3600" b="1" spc="-10" dirty="0">
                <a:solidFill>
                  <a:srgbClr val="702FA0"/>
                </a:solidFill>
                <a:latin typeface="Times New Roman" panose="02020603050405020304" pitchFamily="18" charset="0"/>
                <a:cs typeface="Times New Roman" panose="02020603050405020304" pitchFamily="18" charset="0"/>
              </a:rPr>
              <a:t>CAMPUS</a:t>
            </a:r>
            <a:endParaRPr lang="en-IN" sz="36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1808220-3453-737E-820E-8B50A8F935F8}"/>
              </a:ext>
            </a:extLst>
          </p:cNvPr>
          <p:cNvSpPr txBox="1"/>
          <p:nvPr/>
        </p:nvSpPr>
        <p:spPr>
          <a:xfrm>
            <a:off x="845574" y="3355525"/>
            <a:ext cx="12113342"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 Centralized Student-Faculty Platform for Real-Time Academic Performance Prediction</a:t>
            </a:r>
            <a:endParaRPr lang="en-IN"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60E94EC-9FCD-4E73-F778-8917A205373A}"/>
              </a:ext>
            </a:extLst>
          </p:cNvPr>
          <p:cNvSpPr txBox="1"/>
          <p:nvPr/>
        </p:nvSpPr>
        <p:spPr>
          <a:xfrm>
            <a:off x="466631" y="4393415"/>
            <a:ext cx="4336026" cy="1631216"/>
          </a:xfrm>
          <a:prstGeom prst="rect">
            <a:avLst/>
          </a:prstGeom>
          <a:noFill/>
        </p:spPr>
        <p:txBody>
          <a:bodyPr wrap="square" rtlCol="0">
            <a:spAutoFit/>
          </a:bodyPr>
          <a:lstStyle/>
          <a:p>
            <a:r>
              <a:rPr lang="en-IN" sz="2000" b="1" dirty="0">
                <a:solidFill>
                  <a:schemeClr val="accent6">
                    <a:lumMod val="75000"/>
                  </a:schemeClr>
                </a:solidFill>
                <a:latin typeface="Times New Roman" panose="02020603050405020304" pitchFamily="18" charset="0"/>
                <a:cs typeface="Times New Roman" panose="02020603050405020304" pitchFamily="18" charset="0"/>
              </a:rPr>
              <a:t>Project Supervisor:</a:t>
            </a:r>
          </a:p>
          <a:p>
            <a:r>
              <a:rPr lang="en-IN" sz="2000" b="1" dirty="0">
                <a:latin typeface="Times New Roman" panose="02020603050405020304" pitchFamily="18" charset="0"/>
                <a:cs typeface="Times New Roman" panose="02020603050405020304" pitchFamily="18" charset="0"/>
              </a:rPr>
              <a:t>Name : </a:t>
            </a:r>
            <a:r>
              <a:rPr lang="en-IN" sz="2000" dirty="0">
                <a:latin typeface="Times New Roman" panose="02020603050405020304" pitchFamily="18" charset="0"/>
                <a:cs typeface="Times New Roman" panose="02020603050405020304" pitchFamily="18" charset="0"/>
              </a:rPr>
              <a:t>D Mahesh Babu</a:t>
            </a:r>
          </a:p>
          <a:p>
            <a:r>
              <a:rPr lang="en-IN" sz="2000" b="1" dirty="0">
                <a:latin typeface="Times New Roman" panose="02020603050405020304" pitchFamily="18" charset="0"/>
                <a:cs typeface="Times New Roman" panose="02020603050405020304" pitchFamily="18" charset="0"/>
              </a:rPr>
              <a:t>Designation : </a:t>
            </a:r>
            <a:r>
              <a:rPr lang="en-IN" sz="2000" dirty="0">
                <a:latin typeface="Times New Roman" panose="02020603050405020304"/>
                <a:cs typeface="Times New Roman" panose="02020603050405020304"/>
              </a:rPr>
              <a:t>Assistant</a:t>
            </a:r>
            <a:r>
              <a:rPr lang="en-IN" sz="2000" spc="-45" dirty="0">
                <a:latin typeface="Times New Roman" panose="02020603050405020304"/>
                <a:cs typeface="Times New Roman" panose="02020603050405020304"/>
              </a:rPr>
              <a:t> </a:t>
            </a:r>
            <a:r>
              <a:rPr lang="en-IN" sz="2000" spc="-10" dirty="0">
                <a:latin typeface="Times New Roman" panose="02020603050405020304"/>
                <a:cs typeface="Times New Roman" panose="02020603050405020304"/>
              </a:rPr>
              <a:t>Professor</a:t>
            </a:r>
            <a:r>
              <a:rPr lang="en-IN" sz="2000" dirty="0">
                <a:latin typeface="Times New Roman" panose="02020603050405020304" pitchFamily="18" charset="0"/>
                <a:cs typeface="Times New Roman" panose="02020603050405020304" pitchFamily="18" charset="0"/>
              </a:rPr>
              <a:t> </a:t>
            </a:r>
          </a:p>
          <a:p>
            <a:endParaRPr lang="en-IN" sz="2000" b="1"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11CB042-0DEC-E3CF-9E8C-591F747204F9}"/>
              </a:ext>
            </a:extLst>
          </p:cNvPr>
          <p:cNvSpPr txBox="1"/>
          <p:nvPr/>
        </p:nvSpPr>
        <p:spPr>
          <a:xfrm>
            <a:off x="7718322" y="4201455"/>
            <a:ext cx="4336026" cy="1631216"/>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Presented By:</a:t>
            </a:r>
          </a:p>
          <a:p>
            <a:pPr algn="ctr"/>
            <a:r>
              <a:rPr lang="en-IN" sz="2000" b="1" dirty="0">
                <a:latin typeface="Times New Roman" panose="02020603050405020304" pitchFamily="18" charset="0"/>
                <a:cs typeface="Times New Roman" panose="02020603050405020304" pitchFamily="18" charset="0"/>
              </a:rPr>
              <a:t>Batch </a:t>
            </a:r>
            <a:r>
              <a:rPr lang="en-IN" sz="2000" b="1">
                <a:latin typeface="Times New Roman" panose="02020603050405020304" pitchFamily="18" charset="0"/>
                <a:cs typeface="Times New Roman" panose="02020603050405020304" pitchFamily="18" charset="0"/>
              </a:rPr>
              <a:t>No:23</a:t>
            </a:r>
            <a:endParaRPr lang="en-IN" sz="2000" b="1" dirty="0">
              <a:latin typeface="Times New Roman" panose="02020603050405020304" pitchFamily="18" charset="0"/>
              <a:cs typeface="Times New Roman" panose="02020603050405020304" pitchFamily="18" charset="0"/>
            </a:endParaRPr>
          </a:p>
          <a:p>
            <a:pPr algn="ctr"/>
            <a:r>
              <a:rPr lang="en-IN" sz="2000" dirty="0">
                <a:latin typeface="Times New Roman" panose="02020603050405020304" pitchFamily="18" charset="0"/>
                <a:cs typeface="Times New Roman" panose="02020603050405020304" pitchFamily="18" charset="0"/>
              </a:rPr>
              <a:t>M Anjali(227R1A1236)</a:t>
            </a:r>
          </a:p>
          <a:p>
            <a:pPr algn="ctr"/>
            <a:r>
              <a:rPr lang="en-IN" sz="2000" dirty="0">
                <a:latin typeface="Times New Roman" panose="02020603050405020304" pitchFamily="18" charset="0"/>
                <a:cs typeface="Times New Roman" panose="02020603050405020304" pitchFamily="18" charset="0"/>
              </a:rPr>
              <a:t>G Abhinav(237R5A1204)</a:t>
            </a:r>
          </a:p>
          <a:p>
            <a:pPr algn="ctr"/>
            <a:r>
              <a:rPr lang="en-IN" sz="2000" dirty="0">
                <a:latin typeface="Times New Roman" panose="02020603050405020304" pitchFamily="18" charset="0"/>
                <a:cs typeface="Times New Roman" panose="02020603050405020304" pitchFamily="18" charset="0"/>
              </a:rPr>
              <a:t>M Akhila Kumari(227R1A1238)</a:t>
            </a:r>
          </a:p>
        </p:txBody>
      </p:sp>
      <p:pic>
        <p:nvPicPr>
          <p:cNvPr id="1026" name="Picture 2" descr="CMRTC Hyderabad: Courses, Fees, Admission, Placement, Facilities">
            <a:extLst>
              <a:ext uri="{FF2B5EF4-FFF2-40B4-BE49-F238E27FC236}">
                <a16:creationId xmlns:a16="http://schemas.microsoft.com/office/drawing/2014/main" id="{A08D62A9-98B3-28B4-6E7A-3012CE5FCD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575" y="1308045"/>
            <a:ext cx="1743075" cy="14097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D47C205-3B61-81DF-6ED1-E1CD8601229E}"/>
              </a:ext>
            </a:extLst>
          </p:cNvPr>
          <p:cNvSpPr txBox="1"/>
          <p:nvPr/>
        </p:nvSpPr>
        <p:spPr>
          <a:xfrm>
            <a:off x="3814916" y="2778368"/>
            <a:ext cx="5102942" cy="461665"/>
          </a:xfrm>
          <a:prstGeom prst="rect">
            <a:avLst/>
          </a:prstGeom>
          <a:noFill/>
        </p:spPr>
        <p:txBody>
          <a:bodyPr wrap="square" rtlCol="0">
            <a:spAutoFit/>
          </a:bodyPr>
          <a:lstStyle/>
          <a:p>
            <a:pPr algn="ctr"/>
            <a:r>
              <a:rPr lang="en-IN" sz="2400" b="1" dirty="0">
                <a:solidFill>
                  <a:schemeClr val="accent4">
                    <a:lumMod val="75000"/>
                  </a:schemeClr>
                </a:solidFill>
                <a:latin typeface="Times New Roman" panose="02020603050405020304" pitchFamily="18" charset="0"/>
                <a:cs typeface="Times New Roman" panose="02020603050405020304" pitchFamily="18" charset="0"/>
              </a:rPr>
              <a:t>Major Project Stage-II Review-II</a:t>
            </a:r>
          </a:p>
        </p:txBody>
      </p:sp>
    </p:spTree>
    <p:extLst>
      <p:ext uri="{BB962C8B-B14F-4D97-AF65-F5344CB8AC3E}">
        <p14:creationId xmlns:p14="http://schemas.microsoft.com/office/powerpoint/2010/main" val="2575507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F044648-0A94-81BE-86EC-822B9C1B3A58}"/>
              </a:ext>
            </a:extLst>
          </p:cNvPr>
          <p:cNvSpPr txBox="1"/>
          <p:nvPr/>
        </p:nvSpPr>
        <p:spPr>
          <a:xfrm>
            <a:off x="934065" y="1102945"/>
            <a:ext cx="6096000" cy="430887"/>
          </a:xfrm>
          <a:prstGeom prst="rect">
            <a:avLst/>
          </a:prstGeom>
          <a:noFill/>
        </p:spPr>
        <p:txBody>
          <a:bodyPr wrap="square" rtlCol="0">
            <a:spAutoFit/>
          </a:bodyPr>
          <a:lstStyle/>
          <a:p>
            <a:r>
              <a:rPr lang="en-IN" sz="2200" b="1" dirty="0">
                <a:solidFill>
                  <a:srgbClr val="FF0000"/>
                </a:solidFill>
                <a:latin typeface="Times New Roman" panose="02020603050405020304" pitchFamily="18" charset="0"/>
                <a:cs typeface="Times New Roman" panose="02020603050405020304" pitchFamily="18" charset="0"/>
              </a:rPr>
              <a:t>INDEX</a:t>
            </a:r>
          </a:p>
        </p:txBody>
      </p:sp>
      <p:sp>
        <p:nvSpPr>
          <p:cNvPr id="5" name="TextBox 4">
            <a:extLst>
              <a:ext uri="{FF2B5EF4-FFF2-40B4-BE49-F238E27FC236}">
                <a16:creationId xmlns:a16="http://schemas.microsoft.com/office/drawing/2014/main" id="{38468EB9-2A05-7F34-B2C2-438859462158}"/>
              </a:ext>
            </a:extLst>
          </p:cNvPr>
          <p:cNvSpPr txBox="1"/>
          <p:nvPr/>
        </p:nvSpPr>
        <p:spPr>
          <a:xfrm>
            <a:off x="934065" y="1671484"/>
            <a:ext cx="9635613" cy="4524315"/>
          </a:xfrm>
          <a:prstGeom prst="rect">
            <a:avLst/>
          </a:prstGeom>
          <a:noFill/>
        </p:spPr>
        <p:txBody>
          <a:bodyPr wrap="square" rtlCol="0">
            <a:spAutoFit/>
          </a:bodyPr>
          <a:lstStyle/>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INTRODUCTION AND OVERVIEW</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SYSTEM</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DISADVANTAGES</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PROPOSED SYSTEM</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ADVANTAGES</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HARDWARE AND SOFTWARE REQUIREMENTS </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NOVELTY OF PROJECT</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ARCHITECTURE</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MODULES</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UML DIAGRAMS</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SOURCE CODE</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RESULTS</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CONCLUSION &amp; FUTURE ENHANCEMENT</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REFERENCES </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GITHUB LINK</a:t>
            </a:r>
          </a:p>
          <a:p>
            <a:pPr marL="342900" indent="-34290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pic>
        <p:nvPicPr>
          <p:cNvPr id="2" name="Picture 2" descr="CMRTC Hyderabad: Courses, Fees, Admission, Placement, Facilities">
            <a:extLst>
              <a:ext uri="{FF2B5EF4-FFF2-40B4-BE49-F238E27FC236}">
                <a16:creationId xmlns:a16="http://schemas.microsoft.com/office/drawing/2014/main" id="{802CFB66-4F55-3A8E-AEE6-5A549E31EC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2248" y="68043"/>
            <a:ext cx="1479752" cy="1250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4491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41C0D9-16C5-E4F0-0635-60FEBAFBFCB7}"/>
              </a:ext>
            </a:extLst>
          </p:cNvPr>
          <p:cNvSpPr txBox="1"/>
          <p:nvPr/>
        </p:nvSpPr>
        <p:spPr>
          <a:xfrm>
            <a:off x="0" y="1042219"/>
            <a:ext cx="12192000" cy="539378"/>
          </a:xfrm>
          <a:prstGeom prst="rect">
            <a:avLst/>
          </a:prstGeom>
          <a:noFill/>
        </p:spPr>
        <p:txBody>
          <a:bodyPr wrap="square" rtlCol="0">
            <a:spAutoFit/>
          </a:bodyPr>
          <a:lstStyle/>
          <a:p>
            <a:pPr algn="ctr">
              <a:lnSpc>
                <a:spcPct val="150000"/>
              </a:lnSpc>
            </a:pPr>
            <a:r>
              <a:rPr lang="en-IN" sz="2200" b="1" dirty="0">
                <a:solidFill>
                  <a:srgbClr val="FF0000"/>
                </a:solidFill>
                <a:latin typeface="Times New Roman" panose="02020603050405020304" pitchFamily="18" charset="0"/>
                <a:cs typeface="Times New Roman" panose="02020603050405020304" pitchFamily="18" charset="0"/>
              </a:rPr>
              <a:t>INTRODUCTION AND OVERVIEW</a:t>
            </a:r>
          </a:p>
        </p:txBody>
      </p:sp>
      <p:pic>
        <p:nvPicPr>
          <p:cNvPr id="2" name="Picture 2" descr="CMRTC Hyderabad: Courses, Fees, Admission, Placement, Facilities">
            <a:extLst>
              <a:ext uri="{FF2B5EF4-FFF2-40B4-BE49-F238E27FC236}">
                <a16:creationId xmlns:a16="http://schemas.microsoft.com/office/drawing/2014/main" id="{0E559A77-C792-2207-75FD-E7B59C47A8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4928" y="0"/>
            <a:ext cx="1622323" cy="119408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57DB899-B425-4DD7-6DD2-5CACB221F785}"/>
              </a:ext>
            </a:extLst>
          </p:cNvPr>
          <p:cNvSpPr txBox="1"/>
          <p:nvPr/>
        </p:nvSpPr>
        <p:spPr>
          <a:xfrm>
            <a:off x="1202584" y="1975104"/>
            <a:ext cx="9194144" cy="317009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accurate monitoring and prediction of student performance is essential for enhancing learning outcomes  and enabling data-driven academic decisions. Traditional academic management systems primarily function as static repositories for grades and attendance records, lacking predictive analytics capabilities. Moreover, such systems often do not provide integrated communication channels among administrators, faculty, students, and parents, limiting their effectiveness in improving student engagement and support. This work presents a centralized student portal that leverages machine learning (ML) algorithms to analyze historical academic data and predict individual student performance. Both models are trained on past student marks, and performance is evaluated using accuracy, precision, recall, and F1 score.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2531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23168D-0C68-21B1-C575-D2EA05FAF627}"/>
              </a:ext>
            </a:extLst>
          </p:cNvPr>
          <p:cNvSpPr txBox="1"/>
          <p:nvPr/>
        </p:nvSpPr>
        <p:spPr>
          <a:xfrm>
            <a:off x="0" y="1081548"/>
            <a:ext cx="12192000" cy="430887"/>
          </a:xfrm>
          <a:prstGeom prst="rect">
            <a:avLst/>
          </a:prstGeom>
          <a:noFill/>
        </p:spPr>
        <p:txBody>
          <a:bodyPr wrap="square" rtlCol="0">
            <a:spAutoFit/>
          </a:bodyPr>
          <a:lstStyle/>
          <a:p>
            <a:pPr algn="ctr"/>
            <a:r>
              <a:rPr lang="en-IN" sz="2200" b="1" dirty="0">
                <a:solidFill>
                  <a:srgbClr val="FF0000"/>
                </a:solidFill>
                <a:latin typeface="Times New Roman" panose="02020603050405020304" pitchFamily="18" charset="0"/>
                <a:cs typeface="Times New Roman" panose="02020603050405020304" pitchFamily="18" charset="0"/>
              </a:rPr>
              <a:t>EXISTING SYSTEM</a:t>
            </a:r>
          </a:p>
        </p:txBody>
      </p:sp>
      <p:sp>
        <p:nvSpPr>
          <p:cNvPr id="5" name="TextBox 4">
            <a:extLst>
              <a:ext uri="{FF2B5EF4-FFF2-40B4-BE49-F238E27FC236}">
                <a16:creationId xmlns:a16="http://schemas.microsoft.com/office/drawing/2014/main" id="{B874D8BC-45D0-75DA-C198-6845311A6534}"/>
              </a:ext>
            </a:extLst>
          </p:cNvPr>
          <p:cNvSpPr txBox="1"/>
          <p:nvPr/>
        </p:nvSpPr>
        <p:spPr>
          <a:xfrm>
            <a:off x="1115961" y="1720620"/>
            <a:ext cx="9960078" cy="4401205"/>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existing system used in many educational institutions is primarily based on </a:t>
            </a:r>
            <a:r>
              <a:rPr lang="en-US" sz="2000" b="1" dirty="0">
                <a:latin typeface="Times New Roman" panose="02020603050405020304" pitchFamily="18" charset="0"/>
                <a:cs typeface="Times New Roman" panose="02020603050405020304" pitchFamily="18" charset="0"/>
              </a:rPr>
              <a:t>manual or semi-digital academic management methods</a:t>
            </a:r>
            <a:r>
              <a:rPr lang="en-US" sz="2000" dirty="0">
                <a:latin typeface="Times New Roman" panose="02020603050405020304" pitchFamily="18" charset="0"/>
                <a:cs typeface="Times New Roman" panose="02020603050405020304" pitchFamily="18" charset="0"/>
              </a:rPr>
              <a:t>. Academic data such as student marks, attendance, and assignments are stored in </a:t>
            </a:r>
            <a:r>
              <a:rPr lang="en-US" sz="2000" b="1" dirty="0">
                <a:latin typeface="Times New Roman" panose="02020603050405020304" pitchFamily="18" charset="0"/>
                <a:cs typeface="Times New Roman" panose="02020603050405020304" pitchFamily="18" charset="0"/>
              </a:rPr>
              <a:t>registers, spreadsheets, or separate software applications</a:t>
            </a:r>
            <a:r>
              <a:rPr lang="en-US" sz="2000" dirty="0">
                <a:latin typeface="Times New Roman" panose="02020603050405020304" pitchFamily="18" charset="0"/>
                <a:cs typeface="Times New Roman" panose="02020603050405020304" pitchFamily="18" charset="0"/>
              </a:rPr>
              <a:t>. These systems mainly act as </a:t>
            </a:r>
            <a:r>
              <a:rPr lang="en-US" sz="2000" b="1" dirty="0">
                <a:latin typeface="Times New Roman" panose="02020603050405020304" pitchFamily="18" charset="0"/>
                <a:cs typeface="Times New Roman" panose="02020603050405020304" pitchFamily="18" charset="0"/>
              </a:rPr>
              <a:t>data storage tools</a:t>
            </a:r>
            <a:r>
              <a:rPr lang="en-US" sz="2000" dirty="0">
                <a:latin typeface="Times New Roman" panose="02020603050405020304" pitchFamily="18" charset="0"/>
                <a:cs typeface="Times New Roman" panose="02020603050405020304" pitchFamily="18" charset="0"/>
              </a:rPr>
              <a:t> without providing advanced analytical capabilities.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Faculty members manually maintain attendance records and evaluate student performance by reviewing marks and assignments individually. Communication between students and faculty often takes place through </a:t>
            </a:r>
            <a:r>
              <a:rPr lang="en-US" sz="2000" b="1" dirty="0">
                <a:latin typeface="Times New Roman" panose="02020603050405020304" pitchFamily="18" charset="0"/>
                <a:cs typeface="Times New Roman" panose="02020603050405020304" pitchFamily="18" charset="0"/>
              </a:rPr>
              <a:t>emails or messaging applications</a:t>
            </a:r>
            <a:r>
              <a:rPr lang="en-US" sz="2000" dirty="0">
                <a:latin typeface="Times New Roman" panose="02020603050405020304" pitchFamily="18" charset="0"/>
                <a:cs typeface="Times New Roman" panose="02020603050405020304" pitchFamily="18" charset="0"/>
              </a:rPr>
              <a:t>, which are not integrated into a single system.</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Since the data is distributed across multiple platforms, it becomes difficult for administrators and faculty to get a </a:t>
            </a:r>
            <a:r>
              <a:rPr lang="en-US" sz="2000" b="1" dirty="0">
                <a:latin typeface="Times New Roman" panose="02020603050405020304" pitchFamily="18" charset="0"/>
                <a:cs typeface="Times New Roman" panose="02020603050405020304" pitchFamily="18" charset="0"/>
              </a:rPr>
              <a:t>complete view of student performance</a:t>
            </a:r>
            <a:r>
              <a:rPr lang="en-US" sz="2000" dirty="0">
                <a:latin typeface="Times New Roman" panose="02020603050405020304" pitchFamily="18" charset="0"/>
                <a:cs typeface="Times New Roman" panose="02020603050405020304" pitchFamily="18" charset="0"/>
              </a:rPr>
              <a:t>. Additionally, these systems do not use any </a:t>
            </a:r>
            <a:r>
              <a:rPr lang="en-US" sz="2000" b="1" dirty="0">
                <a:latin typeface="Times New Roman" panose="02020603050405020304" pitchFamily="18" charset="0"/>
                <a:cs typeface="Times New Roman" panose="02020603050405020304" pitchFamily="18" charset="0"/>
              </a:rPr>
              <a:t>machine learning or predictive techniques</a:t>
            </a:r>
            <a:r>
              <a:rPr lang="en-US" sz="2000" dirty="0">
                <a:latin typeface="Times New Roman" panose="02020603050405020304" pitchFamily="18" charset="0"/>
                <a:cs typeface="Times New Roman" panose="02020603050405020304" pitchFamily="18" charset="0"/>
              </a:rPr>
              <a:t>, making it hard to identify students who need early academic support.</a:t>
            </a:r>
          </a:p>
          <a:p>
            <a:pPr algn="just"/>
            <a:endParaRPr lang="en-IN" sz="2000" dirty="0">
              <a:latin typeface="Times New Roman" panose="02020603050405020304" pitchFamily="18" charset="0"/>
              <a:cs typeface="Times New Roman" panose="02020603050405020304" pitchFamily="18" charset="0"/>
            </a:endParaRPr>
          </a:p>
        </p:txBody>
      </p:sp>
      <p:pic>
        <p:nvPicPr>
          <p:cNvPr id="2" name="Picture 2" descr="CMRTC Hyderabad: Courses, Fees, Admission, Placement, Facilities">
            <a:extLst>
              <a:ext uri="{FF2B5EF4-FFF2-40B4-BE49-F238E27FC236}">
                <a16:creationId xmlns:a16="http://schemas.microsoft.com/office/drawing/2014/main" id="{67DB706C-7678-7A3B-FAFD-9218696E4D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8503" y="0"/>
            <a:ext cx="1553497" cy="1199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4118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BD2840-ED0D-B346-76E7-55B268260FEF}"/>
              </a:ext>
            </a:extLst>
          </p:cNvPr>
          <p:cNvSpPr txBox="1"/>
          <p:nvPr/>
        </p:nvSpPr>
        <p:spPr>
          <a:xfrm>
            <a:off x="-334189" y="962559"/>
            <a:ext cx="12192000" cy="430887"/>
          </a:xfrm>
          <a:prstGeom prst="rect">
            <a:avLst/>
          </a:prstGeom>
          <a:noFill/>
        </p:spPr>
        <p:txBody>
          <a:bodyPr wrap="square" rtlCol="0">
            <a:spAutoFit/>
          </a:bodyPr>
          <a:lstStyle/>
          <a:p>
            <a:pPr algn="ctr"/>
            <a:r>
              <a:rPr lang="en-IN" sz="2200" b="1" dirty="0">
                <a:solidFill>
                  <a:srgbClr val="FF0000"/>
                </a:solidFill>
                <a:latin typeface="Times New Roman" panose="02020603050405020304" pitchFamily="18" charset="0"/>
                <a:cs typeface="Times New Roman" panose="02020603050405020304" pitchFamily="18" charset="0"/>
              </a:rPr>
              <a:t>DISADVANTAGES</a:t>
            </a:r>
          </a:p>
        </p:txBody>
      </p:sp>
      <p:pic>
        <p:nvPicPr>
          <p:cNvPr id="2" name="Picture 2" descr="CMRTC Hyderabad: Courses, Fees, Admission, Placement, Facilities">
            <a:extLst>
              <a:ext uri="{FF2B5EF4-FFF2-40B4-BE49-F238E27FC236}">
                <a16:creationId xmlns:a16="http://schemas.microsoft.com/office/drawing/2014/main" id="{F9BEC9F5-B3EF-FBBF-9D55-805C7CDF1F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0" y="9832"/>
            <a:ext cx="1524000" cy="125273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4">
            <a:extLst>
              <a:ext uri="{FF2B5EF4-FFF2-40B4-BE49-F238E27FC236}">
                <a16:creationId xmlns:a16="http://schemas.microsoft.com/office/drawing/2014/main" id="{E490E711-9F08-460A-36F1-49AD0000D097}"/>
              </a:ext>
            </a:extLst>
          </p:cNvPr>
          <p:cNvSpPr>
            <a:spLocks noChangeArrowheads="1"/>
          </p:cNvSpPr>
          <p:nvPr/>
        </p:nvSpPr>
        <p:spPr bwMode="auto">
          <a:xfrm>
            <a:off x="341428" y="1643163"/>
            <a:ext cx="1028166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Predictive Analysis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only stores data and does not analyze it. There is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prediction of student performance,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 early identification of weak students is not possible.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Centralization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Academic data is stored in multiple places (registers, files, or different systems), making it difficult to access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manage efficiently.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 Manual Work</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Faculty must manually analyze marks and attendance, which is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slow and prone to human errors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Poor Communication System</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Communication happens through separate platforms like email or messages, leading to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unstructured and</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fragmented communication. </a:t>
            </a:r>
          </a:p>
        </p:txBody>
      </p:sp>
    </p:spTree>
    <p:extLst>
      <p:ext uri="{BB962C8B-B14F-4D97-AF65-F5344CB8AC3E}">
        <p14:creationId xmlns:p14="http://schemas.microsoft.com/office/powerpoint/2010/main" val="4098537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A89F48E-E684-5438-0803-61D6F667874C}"/>
              </a:ext>
            </a:extLst>
          </p:cNvPr>
          <p:cNvSpPr txBox="1"/>
          <p:nvPr/>
        </p:nvSpPr>
        <p:spPr>
          <a:xfrm>
            <a:off x="-108155" y="1052052"/>
            <a:ext cx="12192000" cy="430887"/>
          </a:xfrm>
          <a:prstGeom prst="rect">
            <a:avLst/>
          </a:prstGeom>
          <a:noFill/>
        </p:spPr>
        <p:txBody>
          <a:bodyPr wrap="square" rtlCol="0">
            <a:spAutoFit/>
          </a:bodyPr>
          <a:lstStyle/>
          <a:p>
            <a:pPr algn="ctr"/>
            <a:r>
              <a:rPr lang="en-IN" sz="2200" b="1" dirty="0">
                <a:solidFill>
                  <a:srgbClr val="FF0000"/>
                </a:solidFill>
                <a:latin typeface="Times New Roman" panose="02020603050405020304" pitchFamily="18" charset="0"/>
                <a:cs typeface="Times New Roman" panose="02020603050405020304" pitchFamily="18" charset="0"/>
              </a:rPr>
              <a:t>PROPOSED SYSTEM</a:t>
            </a:r>
          </a:p>
        </p:txBody>
      </p:sp>
      <p:pic>
        <p:nvPicPr>
          <p:cNvPr id="2" name="Picture 2" descr="CMRTC Hyderabad: Courses, Fees, Admission, Placement, Facilities">
            <a:extLst>
              <a:ext uri="{FF2B5EF4-FFF2-40B4-BE49-F238E27FC236}">
                <a16:creationId xmlns:a16="http://schemas.microsoft.com/office/drawing/2014/main" id="{3BB50711-088D-67BF-3B08-888A253EC4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925" y="73239"/>
            <a:ext cx="1743075" cy="14097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F963E901-34CB-F0A7-CFD0-42C39CB96F0C}"/>
              </a:ext>
            </a:extLst>
          </p:cNvPr>
          <p:cNvSpPr>
            <a:spLocks noChangeArrowheads="1"/>
          </p:cNvSpPr>
          <p:nvPr/>
        </p:nvSpPr>
        <p:spPr bwMode="auto">
          <a:xfrm>
            <a:off x="437290" y="1588192"/>
            <a:ext cx="984436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machine learning algorithms like Naïve Bayes and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analyze historical student data 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predict academic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real-time monitoring of student progress and academic activities.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web-based centralized system that stores all academic data such as marks, attendance, assignments,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feedback in a single database.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separate access for admin, faculty, and students with role-based functionalities.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faculty to upload marks, attendance, assignments, and study materials through the platform. </a:t>
            </a: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6F8655DB-3319-3AB0-55DB-22D3F0A83321}"/>
              </a:ext>
            </a:extLst>
          </p:cNvPr>
          <p:cNvSpPr>
            <a:spLocks noChangeArrowheads="1"/>
          </p:cNvSpPr>
          <p:nvPr/>
        </p:nvSpPr>
        <p:spPr bwMode="auto">
          <a:xfrm>
            <a:off x="437290" y="3587530"/>
            <a:ext cx="1046632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identify students who may need additional academic support at an early stage using predictive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communication between students and faculty through messaging and notifications.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academic reports and performance insights to support better decision making.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 a feedback system where students can review faculty performance. </a:t>
            </a:r>
          </a:p>
        </p:txBody>
      </p:sp>
    </p:spTree>
    <p:extLst>
      <p:ext uri="{BB962C8B-B14F-4D97-AF65-F5344CB8AC3E}">
        <p14:creationId xmlns:p14="http://schemas.microsoft.com/office/powerpoint/2010/main" val="2342611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A200A4-3C87-51EB-D3B0-FD3A37A9F906}"/>
              </a:ext>
            </a:extLst>
          </p:cNvPr>
          <p:cNvSpPr txBox="1"/>
          <p:nvPr/>
        </p:nvSpPr>
        <p:spPr>
          <a:xfrm>
            <a:off x="-255638" y="1017650"/>
            <a:ext cx="12192000" cy="430887"/>
          </a:xfrm>
          <a:prstGeom prst="rect">
            <a:avLst/>
          </a:prstGeom>
          <a:noFill/>
        </p:spPr>
        <p:txBody>
          <a:bodyPr wrap="square" rtlCol="0">
            <a:spAutoFit/>
          </a:bodyPr>
          <a:lstStyle/>
          <a:p>
            <a:pPr algn="ctr"/>
            <a:r>
              <a:rPr lang="en-IN" sz="2200" b="1" dirty="0">
                <a:solidFill>
                  <a:srgbClr val="FF0000"/>
                </a:solidFill>
                <a:latin typeface="Times New Roman" panose="02020603050405020304" pitchFamily="18" charset="0"/>
                <a:cs typeface="Times New Roman" panose="02020603050405020304" pitchFamily="18" charset="0"/>
              </a:rPr>
              <a:t>ADVANTAGES</a:t>
            </a:r>
          </a:p>
        </p:txBody>
      </p:sp>
      <p:sp>
        <p:nvSpPr>
          <p:cNvPr id="8" name="Rectangle 3">
            <a:extLst>
              <a:ext uri="{FF2B5EF4-FFF2-40B4-BE49-F238E27FC236}">
                <a16:creationId xmlns:a16="http://schemas.microsoft.com/office/drawing/2014/main" id="{D4A7B8AB-54A2-4F32-F51B-6AEBB2B70A3B}"/>
              </a:ext>
            </a:extLst>
          </p:cNvPr>
          <p:cNvSpPr>
            <a:spLocks noChangeArrowheads="1"/>
          </p:cNvSpPr>
          <p:nvPr/>
        </p:nvSpPr>
        <p:spPr bwMode="auto">
          <a:xfrm>
            <a:off x="934064" y="1464248"/>
            <a:ext cx="10976082" cy="419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pPr>
            <a:r>
              <a:rPr lang="en-IN" sz="2000" b="1" dirty="0">
                <a:latin typeface="Times New Roman" panose="02020603050405020304" pitchFamily="18" charset="0"/>
                <a:ea typeface="Tahoma" panose="020B0604030504040204" pitchFamily="34" charset="0"/>
                <a:cs typeface="Times New Roman" panose="02020603050405020304" pitchFamily="18" charset="0"/>
              </a:rPr>
              <a:t>Centralized Data Management</a:t>
            </a:r>
            <a:r>
              <a:rPr lang="en-IN" sz="2000" b="1" dirty="0">
                <a:latin typeface="Sylfaen" panose="010A0502050306030303" pitchFamily="18" charset="0"/>
                <a:ea typeface="Tahoma" panose="020B0604030504040204" pitchFamily="34" charset="0"/>
                <a:cs typeface="Tahoma" panose="020B0604030504040204" pitchFamily="34" charset="0"/>
              </a:rPr>
              <a:t>:</a:t>
            </a:r>
          </a:p>
          <a:p>
            <a:pPr lvl="0" defTabSz="914400"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The system integrates attendance, marks, assignments, and faculty feedback into a single unified</a:t>
            </a:r>
          </a:p>
          <a:p>
            <a:pPr lvl="0" defTabSz="914400"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 platform, eliminating fragmented data storage and improving transparency in academic monitoring.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defTabSz="914400" eaLnBrk="0" fontAlgn="base" hangingPunct="0">
              <a:lnSpc>
                <a:spcPct val="150000"/>
              </a:lnSpc>
              <a:spcBef>
                <a:spcPct val="0"/>
              </a:spcBef>
              <a:spcAft>
                <a:spcPct val="0"/>
              </a:spcAft>
            </a:pPr>
            <a:r>
              <a:rPr lang="en-IN" sz="2000" b="1" dirty="0">
                <a:latin typeface="Times New Roman" panose="02020603050405020304" pitchFamily="18" charset="0"/>
                <a:cs typeface="Times New Roman" panose="02020603050405020304" pitchFamily="18" charset="0"/>
              </a:rPr>
              <a:t>Machine Learning-Based Prediction:</a:t>
            </a:r>
          </a:p>
          <a:p>
            <a:pPr lvl="0" defTabSz="914400"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The use of algorithms such as Naïve Bayes and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enables accurate prediction of </a:t>
            </a:r>
          </a:p>
          <a:p>
            <a:pPr lvl="0" defTabSz="914400"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student performance categories, helping faculty identify academically at-risk students at an early stage.</a:t>
            </a:r>
          </a:p>
          <a:p>
            <a:pPr lvl="0" defTabSz="914400" eaLnBrk="0" fontAlgn="base" hangingPunct="0">
              <a:lnSpc>
                <a:spcPct val="150000"/>
              </a:lnSpc>
              <a:spcBef>
                <a:spcPct val="0"/>
              </a:spcBef>
              <a:spcAft>
                <a:spcPct val="0"/>
              </a:spcAft>
            </a:pPr>
            <a:r>
              <a:rPr lang="en-IN" sz="2000" b="1" dirty="0">
                <a:latin typeface="Times New Roman" panose="02020603050405020304" pitchFamily="18" charset="0"/>
                <a:cs typeface="Times New Roman" panose="02020603050405020304" pitchFamily="18" charset="0"/>
              </a:rPr>
              <a:t>Improved Academic Monitoring: </a:t>
            </a:r>
            <a:r>
              <a:rPr lang="en-US" sz="2000" b="1" dirty="0">
                <a:latin typeface="Times New Roman" panose="02020603050405020304" pitchFamily="18" charset="0"/>
                <a:cs typeface="Times New Roman" panose="02020603050405020304" pitchFamily="18" charset="0"/>
              </a:rPr>
              <a:t> </a:t>
            </a:r>
          </a:p>
          <a:p>
            <a:pPr lvl="0" defTabSz="914400"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The centralized dashboard allows administrators and faculty members to track student </a:t>
            </a:r>
          </a:p>
          <a:p>
            <a:pPr lvl="0" defTabSz="914400"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progress, analyze academic trends, and generate performance reports efficiently.</a:t>
            </a:r>
            <a:endParaRPr lang="en-IN" sz="2000" b="1" dirty="0">
              <a:latin typeface="Times New Roman" panose="02020603050405020304" pitchFamily="18" charset="0"/>
              <a:cs typeface="Times New Roman" panose="02020603050405020304" pitchFamily="18" charset="0"/>
            </a:endParaRPr>
          </a:p>
        </p:txBody>
      </p:sp>
      <p:pic>
        <p:nvPicPr>
          <p:cNvPr id="2" name="Picture 2" descr="CMRTC Hyderabad: Courses, Fees, Admission, Placement, Facilities">
            <a:extLst>
              <a:ext uri="{FF2B5EF4-FFF2-40B4-BE49-F238E27FC236}">
                <a16:creationId xmlns:a16="http://schemas.microsoft.com/office/drawing/2014/main" id="{9236095E-34C0-FBE4-C5A4-FF57FA4AB4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925" y="118342"/>
            <a:ext cx="1743075"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535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5A4245-2894-D3C0-69DB-73B510855F71}"/>
              </a:ext>
            </a:extLst>
          </p:cNvPr>
          <p:cNvSpPr txBox="1"/>
          <p:nvPr/>
        </p:nvSpPr>
        <p:spPr>
          <a:xfrm>
            <a:off x="-3457281" y="1313992"/>
            <a:ext cx="12113342" cy="430887"/>
          </a:xfrm>
          <a:prstGeom prst="rect">
            <a:avLst/>
          </a:prstGeom>
          <a:noFill/>
        </p:spPr>
        <p:txBody>
          <a:bodyPr wrap="square" rtlCol="0">
            <a:spAutoFit/>
          </a:bodyPr>
          <a:lstStyle/>
          <a:p>
            <a:pPr algn="ctr"/>
            <a:r>
              <a:rPr lang="en-US" sz="2200" b="1" dirty="0">
                <a:solidFill>
                  <a:srgbClr val="FF0000"/>
                </a:solidFill>
                <a:latin typeface="Times New Roman" panose="02020603050405020304" pitchFamily="18" charset="0"/>
                <a:cs typeface="Times New Roman" panose="02020603050405020304" pitchFamily="18" charset="0"/>
              </a:rPr>
              <a:t>SOFTWARE REQUIREMENTS</a:t>
            </a:r>
            <a:endParaRPr lang="en-IN" sz="2200" b="1" dirty="0">
              <a:solidFill>
                <a:srgbClr val="FF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516ED3F-12B5-7FB9-CDD0-1AECAE9C9006}"/>
              </a:ext>
            </a:extLst>
          </p:cNvPr>
          <p:cNvSpPr txBox="1"/>
          <p:nvPr/>
        </p:nvSpPr>
        <p:spPr>
          <a:xfrm>
            <a:off x="522729" y="2059912"/>
            <a:ext cx="7285055" cy="2345322"/>
          </a:xfrm>
          <a:prstGeom prst="rect">
            <a:avLst/>
          </a:prstGeom>
          <a:noFill/>
        </p:spPr>
        <p:txBody>
          <a:bodyPr wrap="square" rtlCol="0">
            <a:spAutoFit/>
          </a:bodyPr>
          <a:lstStyle/>
          <a:p>
            <a:pPr>
              <a:lnSpc>
                <a:spcPct val="150000"/>
              </a:lnSpc>
            </a:pPr>
            <a:r>
              <a:rPr lang="en-IN" sz="2000" b="1" dirty="0">
                <a:latin typeface="Times New Roman" panose="02020603050405020304" pitchFamily="18" charset="0"/>
                <a:cs typeface="Times New Roman" panose="02020603050405020304" pitchFamily="18" charset="0"/>
              </a:rPr>
              <a:t>Operating System</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Windows 11 </a:t>
            </a:r>
          </a:p>
          <a:p>
            <a:pPr>
              <a:lnSpc>
                <a:spcPct val="150000"/>
              </a:lnSpc>
            </a:pPr>
            <a:r>
              <a:rPr lang="en-IN" sz="2000" b="1" dirty="0">
                <a:latin typeface="Times New Roman" panose="02020603050405020304" pitchFamily="18" charset="0"/>
                <a:cs typeface="Times New Roman" panose="02020603050405020304" pitchFamily="18" charset="0"/>
              </a:rPr>
              <a:t>Framework	               :</a:t>
            </a:r>
            <a:r>
              <a:rPr lang="en-IN" sz="2000" dirty="0" err="1">
                <a:latin typeface="Times New Roman" panose="02020603050405020304" pitchFamily="18" charset="0"/>
                <a:cs typeface="Times New Roman" panose="02020603050405020304" pitchFamily="18" charset="0"/>
              </a:rPr>
              <a:t>Dijango</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famework</a:t>
            </a:r>
            <a:endParaRPr lang="en-IN" sz="20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Database </a:t>
            </a:r>
            <a:r>
              <a:rPr lang="en-US" sz="2000" dirty="0">
                <a:latin typeface="Times New Roman" panose="02020603050405020304" pitchFamily="18" charset="0"/>
                <a:cs typeface="Times New Roman" panose="02020603050405020304" pitchFamily="18" charset="0"/>
              </a:rPr>
              <a:t>: MySQL </a:t>
            </a:r>
          </a:p>
          <a:p>
            <a:pPr>
              <a:lnSpc>
                <a:spcPct val="150000"/>
              </a:lnSpc>
            </a:pPr>
            <a:r>
              <a:rPr lang="en-US" sz="2000" b="1" dirty="0">
                <a:latin typeface="Times New Roman" panose="02020603050405020304" pitchFamily="18" charset="0"/>
                <a:cs typeface="Times New Roman" panose="02020603050405020304" pitchFamily="18" charset="0"/>
              </a:rPr>
              <a:t>Machine Learning Libraries </a:t>
            </a:r>
            <a:r>
              <a:rPr lang="en-US" sz="2000" dirty="0">
                <a:latin typeface="Times New Roman" panose="02020603050405020304" pitchFamily="18" charset="0"/>
                <a:cs typeface="Times New Roman" panose="02020603050405020304" pitchFamily="18" charset="0"/>
              </a:rPr>
              <a:t>: Scikit-learn,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a:t>
            </a:r>
          </a:p>
          <a:p>
            <a:pPr>
              <a:lnSpc>
                <a:spcPct val="150000"/>
              </a:lnSpc>
            </a:pPr>
            <a:r>
              <a:rPr lang="en-US" sz="2000" dirty="0">
                <a:latin typeface="Times New Roman" panose="02020603050405020304" pitchFamily="18" charset="0"/>
                <a:cs typeface="Times New Roman" panose="02020603050405020304" pitchFamily="18" charset="0"/>
              </a:rPr>
              <a:t> NumPy, Pandas </a:t>
            </a:r>
            <a:endParaRPr lang="en-IN"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D09BD7CF-E431-1EFD-290B-694C52DF432D}"/>
              </a:ext>
            </a:extLst>
          </p:cNvPr>
          <p:cNvSpPr txBox="1"/>
          <p:nvPr/>
        </p:nvSpPr>
        <p:spPr>
          <a:xfrm>
            <a:off x="6096000" y="1314013"/>
            <a:ext cx="5017477" cy="430887"/>
          </a:xfrm>
          <a:prstGeom prst="rect">
            <a:avLst/>
          </a:prstGeom>
          <a:noFill/>
        </p:spPr>
        <p:txBody>
          <a:bodyPr wrap="square" rtlCol="0">
            <a:spAutoFit/>
          </a:bodyPr>
          <a:lstStyle/>
          <a:p>
            <a:r>
              <a:rPr lang="en-US" sz="2200" b="1" dirty="0">
                <a:solidFill>
                  <a:srgbClr val="FF0000"/>
                </a:solidFill>
                <a:latin typeface="Times New Roman" panose="02020603050405020304" pitchFamily="18" charset="0"/>
                <a:cs typeface="Times New Roman" panose="02020603050405020304" pitchFamily="18" charset="0"/>
              </a:rPr>
              <a:t>HARDWARE REQUIREMENTS</a:t>
            </a:r>
            <a:endParaRPr lang="en-IN" sz="2200" b="1" dirty="0">
              <a:solidFill>
                <a:srgbClr val="FF0000"/>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1EDC44D6-39FB-6B68-DDC3-8C16D6E82F20}"/>
              </a:ext>
            </a:extLst>
          </p:cNvPr>
          <p:cNvSpPr txBox="1"/>
          <p:nvPr/>
        </p:nvSpPr>
        <p:spPr>
          <a:xfrm>
            <a:off x="6199834" y="2059912"/>
            <a:ext cx="4913643" cy="1421992"/>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Processor     :</a:t>
            </a:r>
            <a:r>
              <a:rPr lang="en-US" sz="2000" dirty="0">
                <a:latin typeface="Times New Roman" panose="02020603050405020304" pitchFamily="18" charset="0"/>
                <a:cs typeface="Times New Roman" panose="02020603050405020304" pitchFamily="18" charset="0"/>
              </a:rPr>
              <a:t>Intel Core i5</a:t>
            </a:r>
          </a:p>
          <a:p>
            <a:pPr>
              <a:lnSpc>
                <a:spcPct val="150000"/>
              </a:lnSpc>
            </a:pPr>
            <a:r>
              <a:rPr lang="en-US" sz="2000" b="1" dirty="0">
                <a:latin typeface="Times New Roman" panose="02020603050405020304" pitchFamily="18" charset="0"/>
                <a:cs typeface="Times New Roman" panose="02020603050405020304" pitchFamily="18" charset="0"/>
              </a:rPr>
              <a:t>RAM</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16 GB </a:t>
            </a:r>
          </a:p>
          <a:p>
            <a:pPr>
              <a:lnSpc>
                <a:spcPct val="150000"/>
              </a:lnSpc>
            </a:pPr>
            <a:r>
              <a:rPr lang="en-US" sz="2000" b="1" dirty="0">
                <a:latin typeface="Times New Roman" panose="02020603050405020304" pitchFamily="18" charset="0"/>
                <a:cs typeface="Times New Roman" panose="02020603050405020304" pitchFamily="18" charset="0"/>
              </a:rPr>
              <a:t>Hard disk	:</a:t>
            </a:r>
            <a:r>
              <a:rPr lang="en-US" sz="2000" dirty="0">
                <a:latin typeface="Times New Roman" panose="02020603050405020304" pitchFamily="18" charset="0"/>
                <a:cs typeface="Times New Roman" panose="02020603050405020304" pitchFamily="18" charset="0"/>
              </a:rPr>
              <a:t>512 SSD</a:t>
            </a:r>
            <a:endParaRPr lang="en-IN" sz="2000" dirty="0">
              <a:latin typeface="Times New Roman" panose="02020603050405020304" pitchFamily="18" charset="0"/>
              <a:cs typeface="Times New Roman" panose="02020603050405020304" pitchFamily="18" charset="0"/>
            </a:endParaRPr>
          </a:p>
        </p:txBody>
      </p:sp>
      <p:pic>
        <p:nvPicPr>
          <p:cNvPr id="2" name="Picture 2" descr="CMRTC Hyderabad: Courses, Fees, Admission, Placement, Facilities">
            <a:extLst>
              <a:ext uri="{FF2B5EF4-FFF2-40B4-BE49-F238E27FC236}">
                <a16:creationId xmlns:a16="http://schemas.microsoft.com/office/drawing/2014/main" id="{543FAC18-09D0-B58B-7669-E121DAE1E6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925" y="0"/>
            <a:ext cx="1743075"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563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AF4E15-3383-8B9F-315C-33B3E52DCBA4}"/>
              </a:ext>
            </a:extLst>
          </p:cNvPr>
          <p:cNvSpPr txBox="1"/>
          <p:nvPr/>
        </p:nvSpPr>
        <p:spPr>
          <a:xfrm>
            <a:off x="78658" y="1120877"/>
            <a:ext cx="12113342" cy="430887"/>
          </a:xfrm>
          <a:prstGeom prst="rect">
            <a:avLst/>
          </a:prstGeom>
          <a:noFill/>
        </p:spPr>
        <p:txBody>
          <a:bodyPr wrap="square" rtlCol="0">
            <a:spAutoFit/>
          </a:bodyPr>
          <a:lstStyle/>
          <a:p>
            <a:pPr algn="ctr"/>
            <a:r>
              <a:rPr lang="en-IN" sz="2200" b="1" dirty="0">
                <a:solidFill>
                  <a:srgbClr val="FF0000"/>
                </a:solidFill>
                <a:latin typeface="Times New Roman" panose="02020603050405020304" pitchFamily="18" charset="0"/>
                <a:cs typeface="Times New Roman" panose="02020603050405020304" pitchFamily="18" charset="0"/>
              </a:rPr>
              <a:t>NOVELTY OF PROJECT</a:t>
            </a:r>
          </a:p>
        </p:txBody>
      </p:sp>
      <p:sp>
        <p:nvSpPr>
          <p:cNvPr id="5" name="TextBox 4">
            <a:extLst>
              <a:ext uri="{FF2B5EF4-FFF2-40B4-BE49-F238E27FC236}">
                <a16:creationId xmlns:a16="http://schemas.microsoft.com/office/drawing/2014/main" id="{334A69ED-F785-2BE1-D094-51D0B89CDF53}"/>
              </a:ext>
            </a:extLst>
          </p:cNvPr>
          <p:cNvSpPr txBox="1"/>
          <p:nvPr/>
        </p:nvSpPr>
        <p:spPr>
          <a:xfrm>
            <a:off x="1118419" y="1740310"/>
            <a:ext cx="9581535" cy="3785652"/>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novelty of this project lies in the integration of a centralized academic management system with real-time machine learning–based performance prediction. Unlike traditional systems that only store academic data, this platform not only manages data such as marks, attendance, and assignments but also analyzes it to generate predictive insights about student performance. The use of advanced algorithms like Naïve Bayes and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enables early identification of academically at-risk students, allowing timely intervention. Additionally, the system combines prediction, communication, and academic management into a single platform with role-based dashboards for admin, faculty, and students. Features such as real-time feedback, faculty performance evaluation, and a structured communication system further enhance its uniqueness. This combination of data centralization, predictive analytics, and interactive features makes the project more intelligent, efficient, and innovative compared to existing academic systems.</a:t>
            </a:r>
            <a:endParaRPr lang="en-IN" sz="2000" dirty="0">
              <a:latin typeface="Times New Roman" panose="02020603050405020304" pitchFamily="18" charset="0"/>
              <a:cs typeface="Times New Roman" panose="02020603050405020304" pitchFamily="18" charset="0"/>
            </a:endParaRPr>
          </a:p>
        </p:txBody>
      </p:sp>
      <p:pic>
        <p:nvPicPr>
          <p:cNvPr id="3" name="Picture 2" descr="CMRTC Hyderabad: Courses, Fees, Admission, Placement, Facilities">
            <a:extLst>
              <a:ext uri="{FF2B5EF4-FFF2-40B4-BE49-F238E27FC236}">
                <a16:creationId xmlns:a16="http://schemas.microsoft.com/office/drawing/2014/main" id="{F75AD9DC-E1F8-EA29-E03D-E1C952A5F5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925" y="142064"/>
            <a:ext cx="1743075"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858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C0F0EEEA-103B-10B4-EFB7-DAAA984B8998}"/>
              </a:ext>
            </a:extLst>
          </p:cNvPr>
          <p:cNvGraphicFramePr>
            <a:graphicFrameLocks noGrp="1"/>
          </p:cNvGraphicFramePr>
          <p:nvPr>
            <p:extLst>
              <p:ext uri="{D42A27DB-BD31-4B8C-83A1-F6EECF244321}">
                <p14:modId xmlns:p14="http://schemas.microsoft.com/office/powerpoint/2010/main" val="2513401271"/>
              </p:ext>
            </p:extLst>
          </p:nvPr>
        </p:nvGraphicFramePr>
        <p:xfrm>
          <a:off x="639096" y="1651819"/>
          <a:ext cx="10726994" cy="8036528"/>
        </p:xfrm>
        <a:graphic>
          <a:graphicData uri="http://schemas.openxmlformats.org/drawingml/2006/table">
            <a:tbl>
              <a:tblPr/>
              <a:tblGrid>
                <a:gridCol w="8996517">
                  <a:extLst>
                    <a:ext uri="{9D8B030D-6E8A-4147-A177-3AD203B41FA5}">
                      <a16:colId xmlns:a16="http://schemas.microsoft.com/office/drawing/2014/main" val="1765266076"/>
                    </a:ext>
                  </a:extLst>
                </a:gridCol>
                <a:gridCol w="1730477">
                  <a:extLst>
                    <a:ext uri="{9D8B030D-6E8A-4147-A177-3AD203B41FA5}">
                      <a16:colId xmlns:a16="http://schemas.microsoft.com/office/drawing/2014/main" val="2677568176"/>
                    </a:ext>
                  </a:extLst>
                </a:gridCol>
              </a:tblGrid>
              <a:tr h="388515">
                <a:tc>
                  <a:txBody>
                    <a:bodyPr/>
                    <a:lstStyle/>
                    <a:p>
                      <a:pPr algn="just">
                        <a:buNone/>
                      </a:pPr>
                      <a:r>
                        <a:rPr lang="en-US" sz="2000" b="1" dirty="0">
                          <a:latin typeface="Times New Roman" panose="02020603050405020304" pitchFamily="18" charset="0"/>
                          <a:cs typeface="Times New Roman" panose="02020603050405020304" pitchFamily="18" charset="0"/>
                        </a:rPr>
                        <a:t>Student and Faculty Registration Module:</a:t>
                      </a:r>
                    </a:p>
                    <a:p>
                      <a:pPr algn="just">
                        <a:buNone/>
                      </a:pPr>
                      <a:r>
                        <a:rPr lang="en-US" sz="2000" dirty="0">
                          <a:latin typeface="Times New Roman" panose="02020603050405020304" pitchFamily="18" charset="0"/>
                          <a:cs typeface="Times New Roman" panose="02020603050405020304" pitchFamily="18" charset="0"/>
                        </a:rPr>
                        <a:t>Manages the registration and login of students and faculty members into the system. </a:t>
                      </a:r>
                      <a:r>
                        <a:rPr lang="en-US" sz="2000" b="1" dirty="0">
                          <a:latin typeface="Times New Roman" panose="02020603050405020304" pitchFamily="18" charset="0"/>
                          <a:cs typeface="Times New Roman" panose="02020603050405020304" pitchFamily="18" charset="0"/>
                        </a:rPr>
                        <a:t>Academic Data Management Module:</a:t>
                      </a:r>
                    </a:p>
                    <a:p>
                      <a:pPr algn="just">
                        <a:buNone/>
                      </a:pPr>
                      <a:r>
                        <a:rPr lang="en-US" sz="2000" dirty="0">
                          <a:latin typeface="Times New Roman" panose="02020603050405020304" pitchFamily="18" charset="0"/>
                          <a:cs typeface="Times New Roman" panose="02020603050405020304" pitchFamily="18" charset="0"/>
                        </a:rPr>
                        <a:t>Allows faculty to upload and manage marks, attendance, and assignments. </a:t>
                      </a:r>
                    </a:p>
                    <a:p>
                      <a:pPr algn="just">
                        <a:buNone/>
                      </a:pPr>
                      <a:r>
                        <a:rPr lang="en-US" sz="2000" b="1" dirty="0">
                          <a:latin typeface="Times New Roman" panose="02020603050405020304" pitchFamily="18" charset="0"/>
                          <a:cs typeface="Times New Roman" panose="02020603050405020304" pitchFamily="18" charset="0"/>
                        </a:rPr>
                        <a:t>Data Preprocessing Module:</a:t>
                      </a:r>
                    </a:p>
                    <a:p>
                      <a:pPr algn="just">
                        <a:buNone/>
                      </a:pPr>
                      <a:r>
                        <a:rPr lang="en-US" sz="2000" dirty="0">
                          <a:latin typeface="Times New Roman" panose="02020603050405020304" pitchFamily="18" charset="0"/>
                          <a:cs typeface="Times New Roman" panose="02020603050405020304" pitchFamily="18" charset="0"/>
                        </a:rPr>
                        <a:t>Cleans and organizes the collected academic data for analysis. </a:t>
                      </a:r>
                    </a:p>
                    <a:p>
                      <a:pPr algn="just">
                        <a:buNone/>
                      </a:pPr>
                      <a:r>
                        <a:rPr lang="en-US" sz="2000" b="1" dirty="0">
                          <a:latin typeface="Times New Roman" panose="02020603050405020304" pitchFamily="18" charset="0"/>
                          <a:cs typeface="Times New Roman" panose="02020603050405020304" pitchFamily="18" charset="0"/>
                        </a:rPr>
                        <a:t>Machine Learning Prediction Module:</a:t>
                      </a:r>
                    </a:p>
                    <a:p>
                      <a:pPr algn="just">
                        <a:buNone/>
                      </a:pPr>
                      <a:r>
                        <a:rPr lang="en-US" sz="2000" dirty="0">
                          <a:latin typeface="Times New Roman" panose="02020603050405020304" pitchFamily="18" charset="0"/>
                          <a:cs typeface="Times New Roman" panose="02020603050405020304" pitchFamily="18" charset="0"/>
                        </a:rPr>
                        <a:t>Uses algorithms like Naïve Bayes and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to predict student performance. </a:t>
                      </a:r>
                      <a:r>
                        <a:rPr lang="en-US" sz="2000" b="1" dirty="0">
                          <a:latin typeface="Times New Roman" panose="02020603050405020304" pitchFamily="18" charset="0"/>
                          <a:cs typeface="Times New Roman" panose="02020603050405020304" pitchFamily="18" charset="0"/>
                        </a:rPr>
                        <a:t>Dashboard and Visualization Module:</a:t>
                      </a:r>
                    </a:p>
                    <a:p>
                      <a:pPr algn="just">
                        <a:buNone/>
                      </a:pPr>
                      <a:r>
                        <a:rPr lang="en-US" sz="2000" dirty="0">
                          <a:latin typeface="Times New Roman" panose="02020603050405020304" pitchFamily="18" charset="0"/>
                          <a:cs typeface="Times New Roman" panose="02020603050405020304" pitchFamily="18" charset="0"/>
                        </a:rPr>
                        <a:t>Displays academic details, reports, and predictions through user dashboards. </a:t>
                      </a:r>
                      <a:r>
                        <a:rPr lang="en-US" sz="2000" b="1" dirty="0">
                          <a:latin typeface="Times New Roman" panose="02020603050405020304" pitchFamily="18" charset="0"/>
                          <a:cs typeface="Times New Roman" panose="02020603050405020304" pitchFamily="18" charset="0"/>
                        </a:rPr>
                        <a:t>Communication Module:</a:t>
                      </a:r>
                    </a:p>
                    <a:p>
                      <a:pPr algn="just">
                        <a:buNone/>
                      </a:pPr>
                      <a:r>
                        <a:rPr lang="en-US" sz="2000" dirty="0">
                          <a:latin typeface="Times New Roman" panose="02020603050405020304" pitchFamily="18" charset="0"/>
                          <a:cs typeface="Times New Roman" panose="02020603050405020304" pitchFamily="18" charset="0"/>
                        </a:rPr>
                        <a:t>Enables messaging and interaction between students and faculty. </a:t>
                      </a:r>
                    </a:p>
                    <a:p>
                      <a:pPr algn="just">
                        <a:buNone/>
                      </a:pPr>
                      <a:r>
                        <a:rPr lang="en-US" sz="2000" b="1" dirty="0">
                          <a:latin typeface="Times New Roman" panose="02020603050405020304" pitchFamily="18" charset="0"/>
                          <a:cs typeface="Times New Roman" panose="02020603050405020304" pitchFamily="18" charset="0"/>
                        </a:rPr>
                        <a:t>Performance Report Generation Module:</a:t>
                      </a:r>
                    </a:p>
                    <a:p>
                      <a:pPr algn="just">
                        <a:buNone/>
                      </a:pPr>
                      <a:r>
                        <a:rPr lang="en-US" sz="2000" dirty="0">
                          <a:latin typeface="Times New Roman" panose="02020603050405020304" pitchFamily="18" charset="0"/>
                          <a:cs typeface="Times New Roman" panose="02020603050405020304" pitchFamily="18" charset="0"/>
                        </a:rPr>
                        <a:t>Generates reports based on student performance and prediction results.</a:t>
                      </a:r>
                      <a:endParaRPr lang="en-IN" sz="2000" dirty="0">
                        <a:latin typeface="Times New Roman" panose="02020603050405020304" pitchFamily="18" charset="0"/>
                        <a:cs typeface="Times New Roman" panose="02020603050405020304" pitchFamily="18" charset="0"/>
                      </a:endParaRPr>
                    </a:p>
                  </a:txBody>
                  <a:tcPr marL="78430" marR="78430" marT="39215" marB="39215" anchor="ctr">
                    <a:lnL>
                      <a:noFill/>
                    </a:lnL>
                    <a:lnR>
                      <a:noFill/>
                    </a:lnR>
                    <a:lnT>
                      <a:noFill/>
                    </a:lnT>
                    <a:lnB>
                      <a:noFill/>
                    </a:lnB>
                    <a:noFill/>
                  </a:tcPr>
                </a:tc>
                <a:tc>
                  <a:txBody>
                    <a:bodyPr/>
                    <a:lstStyle/>
                    <a:p>
                      <a:pPr algn="just">
                        <a:buNone/>
                      </a:pPr>
                      <a:endParaRPr lang="en-IN" sz="2000">
                        <a:latin typeface="Times New Roman" panose="02020603050405020304" pitchFamily="18" charset="0"/>
                        <a:cs typeface="Times New Roman" panose="02020603050405020304" pitchFamily="18" charset="0"/>
                      </a:endParaRPr>
                    </a:p>
                  </a:txBody>
                  <a:tcPr marL="78430" marR="78430" marT="39215" marB="39215" anchor="ctr">
                    <a:lnL>
                      <a:noFill/>
                    </a:lnL>
                    <a:lnR>
                      <a:noFill/>
                    </a:lnR>
                    <a:lnT>
                      <a:noFill/>
                    </a:lnT>
                    <a:lnB>
                      <a:noFill/>
                    </a:lnB>
                    <a:noFill/>
                  </a:tcPr>
                </a:tc>
                <a:extLst>
                  <a:ext uri="{0D108BD9-81ED-4DB2-BD59-A6C34878D82A}">
                    <a16:rowId xmlns:a16="http://schemas.microsoft.com/office/drawing/2014/main" val="649065350"/>
                  </a:ext>
                </a:extLst>
              </a:tr>
              <a:tr h="679902">
                <a:tc>
                  <a:txBody>
                    <a:bodyPr/>
                    <a:lstStyle/>
                    <a:p>
                      <a:pPr algn="just">
                        <a:buNone/>
                      </a:pPr>
                      <a:endParaRPr lang="en-IN" sz="2000" dirty="0">
                        <a:latin typeface="Times New Roman" panose="02020603050405020304" pitchFamily="18" charset="0"/>
                        <a:cs typeface="Times New Roman" panose="02020603050405020304" pitchFamily="18" charset="0"/>
                      </a:endParaRPr>
                    </a:p>
                  </a:txBody>
                  <a:tcPr marL="78430" marR="78430" marT="39215" marB="39215" anchor="ctr">
                    <a:lnL>
                      <a:noFill/>
                    </a:lnL>
                    <a:lnR>
                      <a:noFill/>
                    </a:lnR>
                    <a:lnT>
                      <a:noFill/>
                    </a:lnT>
                    <a:lnB>
                      <a:noFill/>
                    </a:lnB>
                    <a:noFill/>
                  </a:tcPr>
                </a:tc>
                <a:tc>
                  <a:txBody>
                    <a:bodyPr/>
                    <a:lstStyle/>
                    <a:p>
                      <a:pPr algn="just">
                        <a:buNone/>
                      </a:pPr>
                      <a:endParaRPr lang="en-US" sz="2000">
                        <a:latin typeface="Times New Roman" panose="02020603050405020304" pitchFamily="18" charset="0"/>
                        <a:cs typeface="Times New Roman" panose="02020603050405020304" pitchFamily="18" charset="0"/>
                      </a:endParaRPr>
                    </a:p>
                  </a:txBody>
                  <a:tcPr marL="78430" marR="78430" marT="39215" marB="39215" anchor="ctr">
                    <a:lnL>
                      <a:noFill/>
                    </a:lnL>
                    <a:lnR>
                      <a:noFill/>
                    </a:lnR>
                    <a:lnT>
                      <a:noFill/>
                    </a:lnT>
                    <a:lnB>
                      <a:noFill/>
                    </a:lnB>
                    <a:noFill/>
                  </a:tcPr>
                </a:tc>
                <a:extLst>
                  <a:ext uri="{0D108BD9-81ED-4DB2-BD59-A6C34878D82A}">
                    <a16:rowId xmlns:a16="http://schemas.microsoft.com/office/drawing/2014/main" val="4195843616"/>
                  </a:ext>
                </a:extLst>
              </a:tr>
              <a:tr h="679902">
                <a:tc>
                  <a:txBody>
                    <a:bodyPr/>
                    <a:lstStyle/>
                    <a:p>
                      <a:pPr algn="just">
                        <a:buNone/>
                      </a:pPr>
                      <a:endParaRPr lang="en-IN" sz="2000" dirty="0">
                        <a:latin typeface="Times New Roman" panose="02020603050405020304" pitchFamily="18" charset="0"/>
                        <a:cs typeface="Times New Roman" panose="02020603050405020304" pitchFamily="18" charset="0"/>
                      </a:endParaRPr>
                    </a:p>
                  </a:txBody>
                  <a:tcPr marL="78430" marR="78430" marT="39215" marB="39215" anchor="ctr">
                    <a:lnL>
                      <a:noFill/>
                    </a:lnL>
                    <a:lnR>
                      <a:noFill/>
                    </a:lnR>
                    <a:lnT>
                      <a:noFill/>
                    </a:lnT>
                    <a:lnB>
                      <a:noFill/>
                    </a:lnB>
                    <a:noFill/>
                  </a:tcPr>
                </a:tc>
                <a:tc>
                  <a:txBody>
                    <a:bodyPr/>
                    <a:lstStyle/>
                    <a:p>
                      <a:pPr algn="just">
                        <a:buNone/>
                      </a:pPr>
                      <a:endParaRPr lang="en-US" sz="2000">
                        <a:latin typeface="Times New Roman" panose="02020603050405020304" pitchFamily="18" charset="0"/>
                        <a:cs typeface="Times New Roman" panose="02020603050405020304" pitchFamily="18" charset="0"/>
                      </a:endParaRPr>
                    </a:p>
                  </a:txBody>
                  <a:tcPr marL="78430" marR="78430" marT="39215" marB="39215" anchor="ctr">
                    <a:lnL>
                      <a:noFill/>
                    </a:lnL>
                    <a:lnR>
                      <a:noFill/>
                    </a:lnR>
                    <a:lnT>
                      <a:noFill/>
                    </a:lnT>
                    <a:lnB>
                      <a:noFill/>
                    </a:lnB>
                    <a:noFill/>
                  </a:tcPr>
                </a:tc>
                <a:extLst>
                  <a:ext uri="{0D108BD9-81ED-4DB2-BD59-A6C34878D82A}">
                    <a16:rowId xmlns:a16="http://schemas.microsoft.com/office/drawing/2014/main" val="1279235335"/>
                  </a:ext>
                </a:extLst>
              </a:tr>
              <a:tr h="679902">
                <a:tc>
                  <a:txBody>
                    <a:bodyPr/>
                    <a:lstStyle/>
                    <a:p>
                      <a:pPr algn="just">
                        <a:buNone/>
                      </a:pPr>
                      <a:endParaRPr lang="it-IT" sz="2000" dirty="0">
                        <a:latin typeface="Times New Roman" panose="02020603050405020304" pitchFamily="18" charset="0"/>
                        <a:cs typeface="Times New Roman" panose="02020603050405020304" pitchFamily="18" charset="0"/>
                      </a:endParaRPr>
                    </a:p>
                  </a:txBody>
                  <a:tcPr marL="78430" marR="78430" marT="39215" marB="39215" anchor="ctr">
                    <a:lnL>
                      <a:noFill/>
                    </a:lnL>
                    <a:lnR>
                      <a:noFill/>
                    </a:lnR>
                    <a:lnT>
                      <a:noFill/>
                    </a:lnT>
                    <a:lnB>
                      <a:noFill/>
                    </a:lnB>
                    <a:noFill/>
                  </a:tcPr>
                </a:tc>
                <a:tc>
                  <a:txBody>
                    <a:bodyPr/>
                    <a:lstStyle/>
                    <a:p>
                      <a:pPr algn="just">
                        <a:buNone/>
                      </a:pPr>
                      <a:endParaRPr lang="en-US" sz="2000" dirty="0">
                        <a:latin typeface="Times New Roman" panose="02020603050405020304" pitchFamily="18" charset="0"/>
                        <a:cs typeface="Times New Roman" panose="02020603050405020304" pitchFamily="18" charset="0"/>
                      </a:endParaRPr>
                    </a:p>
                  </a:txBody>
                  <a:tcPr marL="78430" marR="78430" marT="39215" marB="39215" anchor="ctr">
                    <a:lnL>
                      <a:noFill/>
                    </a:lnL>
                    <a:lnR>
                      <a:noFill/>
                    </a:lnR>
                    <a:lnT>
                      <a:noFill/>
                    </a:lnT>
                    <a:lnB>
                      <a:noFill/>
                    </a:lnB>
                    <a:noFill/>
                  </a:tcPr>
                </a:tc>
                <a:extLst>
                  <a:ext uri="{0D108BD9-81ED-4DB2-BD59-A6C34878D82A}">
                    <a16:rowId xmlns:a16="http://schemas.microsoft.com/office/drawing/2014/main" val="2424628679"/>
                  </a:ext>
                </a:extLst>
              </a:tr>
              <a:tr h="971290">
                <a:tc>
                  <a:txBody>
                    <a:bodyPr/>
                    <a:lstStyle/>
                    <a:p>
                      <a:pPr algn="just">
                        <a:buNone/>
                      </a:pPr>
                      <a:endParaRPr lang="en-IN" sz="2000" dirty="0">
                        <a:latin typeface="Times New Roman" panose="02020603050405020304" pitchFamily="18" charset="0"/>
                        <a:cs typeface="Times New Roman" panose="02020603050405020304" pitchFamily="18" charset="0"/>
                      </a:endParaRPr>
                    </a:p>
                  </a:txBody>
                  <a:tcPr marL="78430" marR="78430" marT="39215" marB="39215" anchor="ctr">
                    <a:lnL>
                      <a:noFill/>
                    </a:lnL>
                    <a:lnR>
                      <a:noFill/>
                    </a:lnR>
                    <a:lnT>
                      <a:noFill/>
                    </a:lnT>
                    <a:lnB>
                      <a:noFill/>
                    </a:lnB>
                    <a:noFill/>
                  </a:tcPr>
                </a:tc>
                <a:tc>
                  <a:txBody>
                    <a:bodyPr/>
                    <a:lstStyle/>
                    <a:p>
                      <a:pPr algn="just">
                        <a:buNone/>
                      </a:pPr>
                      <a:endParaRPr lang="en-US" sz="2000">
                        <a:latin typeface="Times New Roman" panose="02020603050405020304" pitchFamily="18" charset="0"/>
                        <a:cs typeface="Times New Roman" panose="02020603050405020304" pitchFamily="18" charset="0"/>
                      </a:endParaRPr>
                    </a:p>
                  </a:txBody>
                  <a:tcPr marL="78430" marR="78430" marT="39215" marB="39215" anchor="ctr">
                    <a:lnL>
                      <a:noFill/>
                    </a:lnL>
                    <a:lnR>
                      <a:noFill/>
                    </a:lnR>
                    <a:lnT>
                      <a:noFill/>
                    </a:lnT>
                    <a:lnB>
                      <a:noFill/>
                    </a:lnB>
                    <a:noFill/>
                  </a:tcPr>
                </a:tc>
                <a:extLst>
                  <a:ext uri="{0D108BD9-81ED-4DB2-BD59-A6C34878D82A}">
                    <a16:rowId xmlns:a16="http://schemas.microsoft.com/office/drawing/2014/main" val="3183409189"/>
                  </a:ext>
                </a:extLst>
              </a:tr>
              <a:tr h="679902">
                <a:tc>
                  <a:txBody>
                    <a:bodyPr/>
                    <a:lstStyle/>
                    <a:p>
                      <a:pPr algn="just">
                        <a:buNone/>
                      </a:pPr>
                      <a:endParaRPr lang="en-IN" sz="2000" dirty="0">
                        <a:latin typeface="Times New Roman" panose="02020603050405020304" pitchFamily="18" charset="0"/>
                        <a:cs typeface="Times New Roman" panose="02020603050405020304" pitchFamily="18" charset="0"/>
                      </a:endParaRPr>
                    </a:p>
                  </a:txBody>
                  <a:tcPr marL="78430" marR="78430" marT="39215" marB="39215" anchor="ctr">
                    <a:lnL>
                      <a:noFill/>
                    </a:lnL>
                    <a:lnR>
                      <a:noFill/>
                    </a:lnR>
                    <a:lnT>
                      <a:noFill/>
                    </a:lnT>
                    <a:lnB>
                      <a:noFill/>
                    </a:lnB>
                    <a:noFill/>
                  </a:tcPr>
                </a:tc>
                <a:tc>
                  <a:txBody>
                    <a:bodyPr/>
                    <a:lstStyle/>
                    <a:p>
                      <a:pPr algn="just">
                        <a:buNone/>
                      </a:pPr>
                      <a:endParaRPr lang="en-US" sz="2000" dirty="0">
                        <a:latin typeface="Times New Roman" panose="02020603050405020304" pitchFamily="18" charset="0"/>
                        <a:cs typeface="Times New Roman" panose="02020603050405020304" pitchFamily="18" charset="0"/>
                      </a:endParaRPr>
                    </a:p>
                  </a:txBody>
                  <a:tcPr marL="78430" marR="78430" marT="39215" marB="39215" anchor="ctr">
                    <a:lnL>
                      <a:noFill/>
                    </a:lnL>
                    <a:lnR>
                      <a:noFill/>
                    </a:lnR>
                    <a:lnT>
                      <a:noFill/>
                    </a:lnT>
                    <a:lnB>
                      <a:noFill/>
                    </a:lnB>
                    <a:noFill/>
                  </a:tcPr>
                </a:tc>
                <a:extLst>
                  <a:ext uri="{0D108BD9-81ED-4DB2-BD59-A6C34878D82A}">
                    <a16:rowId xmlns:a16="http://schemas.microsoft.com/office/drawing/2014/main" val="2608670901"/>
                  </a:ext>
                </a:extLst>
              </a:tr>
            </a:tbl>
          </a:graphicData>
        </a:graphic>
      </p:graphicFrame>
      <p:sp>
        <p:nvSpPr>
          <p:cNvPr id="7" name="TextBox 6">
            <a:extLst>
              <a:ext uri="{FF2B5EF4-FFF2-40B4-BE49-F238E27FC236}">
                <a16:creationId xmlns:a16="http://schemas.microsoft.com/office/drawing/2014/main" id="{738F91F9-108A-5278-092E-58CB83057717}"/>
              </a:ext>
            </a:extLst>
          </p:cNvPr>
          <p:cNvSpPr txBox="1"/>
          <p:nvPr/>
        </p:nvSpPr>
        <p:spPr>
          <a:xfrm>
            <a:off x="0" y="1022555"/>
            <a:ext cx="12192000" cy="430887"/>
          </a:xfrm>
          <a:prstGeom prst="rect">
            <a:avLst/>
          </a:prstGeom>
          <a:noFill/>
        </p:spPr>
        <p:txBody>
          <a:bodyPr wrap="square" rtlCol="0">
            <a:spAutoFit/>
          </a:bodyPr>
          <a:lstStyle/>
          <a:p>
            <a:pPr algn="ctr"/>
            <a:r>
              <a:rPr lang="en-US" sz="2200" b="1" dirty="0">
                <a:solidFill>
                  <a:srgbClr val="FF0000"/>
                </a:solidFill>
                <a:latin typeface="Times New Roman" panose="02020603050405020304" pitchFamily="18" charset="0"/>
                <a:cs typeface="Times New Roman" panose="02020603050405020304" pitchFamily="18" charset="0"/>
              </a:rPr>
              <a:t>MODULES</a:t>
            </a:r>
            <a:endParaRPr lang="en-IN" sz="2200" b="1" dirty="0">
              <a:solidFill>
                <a:srgbClr val="FF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1A916D0-843D-F2A7-C920-9254BA34B108}"/>
              </a:ext>
            </a:extLst>
          </p:cNvPr>
          <p:cNvPicPr>
            <a:picLocks noChangeAspect="1"/>
          </p:cNvPicPr>
          <p:nvPr/>
        </p:nvPicPr>
        <p:blipFill>
          <a:blip r:embed="rId2"/>
          <a:stretch>
            <a:fillRect/>
          </a:stretch>
        </p:blipFill>
        <p:spPr>
          <a:xfrm>
            <a:off x="10448925" y="43742"/>
            <a:ext cx="1743075" cy="1409700"/>
          </a:xfrm>
          <a:prstGeom prst="rect">
            <a:avLst/>
          </a:prstGeom>
        </p:spPr>
      </p:pic>
    </p:spTree>
    <p:extLst>
      <p:ext uri="{BB962C8B-B14F-4D97-AF65-F5344CB8AC3E}">
        <p14:creationId xmlns:p14="http://schemas.microsoft.com/office/powerpoint/2010/main" val="3475270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949834-A17F-FD08-B75C-19A8EA947D27}"/>
              </a:ext>
            </a:extLst>
          </p:cNvPr>
          <p:cNvSpPr txBox="1"/>
          <p:nvPr/>
        </p:nvSpPr>
        <p:spPr>
          <a:xfrm>
            <a:off x="1671483" y="1114058"/>
            <a:ext cx="12118312" cy="400110"/>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SYSTEM ARCHITECTURE</a:t>
            </a:r>
            <a:endParaRPr lang="en-IN" sz="20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E08587A-A892-E827-2C52-2309B4A24000}"/>
              </a:ext>
            </a:extLst>
          </p:cNvPr>
          <p:cNvSpPr txBox="1"/>
          <p:nvPr/>
        </p:nvSpPr>
        <p:spPr>
          <a:xfrm>
            <a:off x="5997677" y="1691148"/>
            <a:ext cx="5791200" cy="163121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This project architecture illustrates the workflow followed in the Centralized Student Faculty Platform for Real-Time Academic Performance Prediction, starting from data collection to final prediction of student performance. </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C6812F4-E194-F1BA-F7C1-04C7E9966F71}"/>
              </a:ext>
            </a:extLst>
          </p:cNvPr>
          <p:cNvPicPr>
            <a:picLocks noChangeAspect="1"/>
          </p:cNvPicPr>
          <p:nvPr/>
        </p:nvPicPr>
        <p:blipFill>
          <a:blip r:embed="rId3"/>
          <a:stretch>
            <a:fillRect/>
          </a:stretch>
        </p:blipFill>
        <p:spPr>
          <a:xfrm>
            <a:off x="10448925" y="0"/>
            <a:ext cx="1743075" cy="1409700"/>
          </a:xfrm>
          <a:prstGeom prst="rect">
            <a:avLst/>
          </a:prstGeom>
        </p:spPr>
      </p:pic>
      <p:pic>
        <p:nvPicPr>
          <p:cNvPr id="3" name="Picture 2">
            <a:extLst>
              <a:ext uri="{FF2B5EF4-FFF2-40B4-BE49-F238E27FC236}">
                <a16:creationId xmlns:a16="http://schemas.microsoft.com/office/drawing/2014/main" id="{5660C7C9-8831-A251-6774-84B55CBEB957}"/>
              </a:ext>
            </a:extLst>
          </p:cNvPr>
          <p:cNvPicPr>
            <a:picLocks noChangeAspect="1"/>
          </p:cNvPicPr>
          <p:nvPr/>
        </p:nvPicPr>
        <p:blipFill rotWithShape="1">
          <a:blip r:embed="rId4">
            <a:extLst>
              <a:ext uri="{28A0092B-C50C-407E-A947-70E740481C1C}">
                <a14:useLocalDpi xmlns:a14="http://schemas.microsoft.com/office/drawing/2010/main" val="0"/>
              </a:ext>
            </a:extLst>
          </a:blip>
          <a:srcRect b="5468"/>
          <a:stretch>
            <a:fillRect/>
          </a:stretch>
        </p:blipFill>
        <p:spPr bwMode="auto">
          <a:xfrm>
            <a:off x="43917" y="1409700"/>
            <a:ext cx="5731510" cy="361188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24357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F41CE6-0F57-3091-90C6-1DCAA37514C8}"/>
              </a:ext>
            </a:extLst>
          </p:cNvPr>
          <p:cNvSpPr txBox="1"/>
          <p:nvPr/>
        </p:nvSpPr>
        <p:spPr>
          <a:xfrm>
            <a:off x="5805949" y="845575"/>
            <a:ext cx="6007509" cy="430887"/>
          </a:xfrm>
          <a:prstGeom prst="rect">
            <a:avLst/>
          </a:prstGeom>
          <a:noFill/>
        </p:spPr>
        <p:txBody>
          <a:bodyPr wrap="square" rtlCol="0">
            <a:spAutoFit/>
          </a:bodyPr>
          <a:lstStyle/>
          <a:p>
            <a:r>
              <a:rPr lang="en-IN" sz="2200" b="1" dirty="0">
                <a:solidFill>
                  <a:srgbClr val="FF0000"/>
                </a:solidFill>
                <a:latin typeface="Times New Roman" panose="02020603050405020304" pitchFamily="18" charset="0"/>
                <a:cs typeface="Times New Roman" panose="02020603050405020304" pitchFamily="18" charset="0"/>
              </a:rPr>
              <a:t>UML DIAGRAMS </a:t>
            </a:r>
          </a:p>
        </p:txBody>
      </p:sp>
      <p:sp>
        <p:nvSpPr>
          <p:cNvPr id="7" name="TextBox 6">
            <a:extLst>
              <a:ext uri="{FF2B5EF4-FFF2-40B4-BE49-F238E27FC236}">
                <a16:creationId xmlns:a16="http://schemas.microsoft.com/office/drawing/2014/main" id="{D09633FE-7AA8-54F0-AA3A-4E535FAC5A45}"/>
              </a:ext>
            </a:extLst>
          </p:cNvPr>
          <p:cNvSpPr txBox="1"/>
          <p:nvPr/>
        </p:nvSpPr>
        <p:spPr>
          <a:xfrm>
            <a:off x="5879689" y="1435510"/>
            <a:ext cx="4149213"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USE CASE DIAGRAM:</a:t>
            </a:r>
          </a:p>
        </p:txBody>
      </p:sp>
      <p:pic>
        <p:nvPicPr>
          <p:cNvPr id="3" name="Picture 2">
            <a:extLst>
              <a:ext uri="{FF2B5EF4-FFF2-40B4-BE49-F238E27FC236}">
                <a16:creationId xmlns:a16="http://schemas.microsoft.com/office/drawing/2014/main" id="{74296DD2-B586-376B-B859-F07A55B01CA7}"/>
              </a:ext>
            </a:extLst>
          </p:cNvPr>
          <p:cNvPicPr>
            <a:picLocks noChangeAspect="1"/>
          </p:cNvPicPr>
          <p:nvPr/>
        </p:nvPicPr>
        <p:blipFill>
          <a:blip r:embed="rId2"/>
          <a:stretch>
            <a:fillRect/>
          </a:stretch>
        </p:blipFill>
        <p:spPr>
          <a:xfrm>
            <a:off x="10448925" y="25810"/>
            <a:ext cx="1743075" cy="1409700"/>
          </a:xfrm>
          <a:prstGeom prst="rect">
            <a:avLst/>
          </a:prstGeom>
        </p:spPr>
      </p:pic>
      <p:pic>
        <p:nvPicPr>
          <p:cNvPr id="6" name="Picture 5" descr="PlantUML diagram">
            <a:extLst>
              <a:ext uri="{FF2B5EF4-FFF2-40B4-BE49-F238E27FC236}">
                <a16:creationId xmlns:a16="http://schemas.microsoft.com/office/drawing/2014/main" id="{8D3DD5D2-1888-E6DA-B665-6FD6A88B7E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29447" y="845575"/>
            <a:ext cx="2806065" cy="5185410"/>
          </a:xfrm>
          <a:prstGeom prst="rect">
            <a:avLst/>
          </a:prstGeom>
          <a:noFill/>
          <a:ln>
            <a:noFill/>
          </a:ln>
        </p:spPr>
      </p:pic>
    </p:spTree>
    <p:extLst>
      <p:ext uri="{BB962C8B-B14F-4D97-AF65-F5344CB8AC3E}">
        <p14:creationId xmlns:p14="http://schemas.microsoft.com/office/powerpoint/2010/main" val="2410133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7BB18C-F493-1968-70E4-77D525B208C9}"/>
              </a:ext>
            </a:extLst>
          </p:cNvPr>
          <p:cNvSpPr txBox="1"/>
          <p:nvPr/>
        </p:nvSpPr>
        <p:spPr>
          <a:xfrm>
            <a:off x="8563896" y="1488512"/>
            <a:ext cx="3470787"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CLASS DIAGRAM</a:t>
            </a:r>
          </a:p>
        </p:txBody>
      </p:sp>
      <p:pic>
        <p:nvPicPr>
          <p:cNvPr id="3" name="Picture 2">
            <a:extLst>
              <a:ext uri="{FF2B5EF4-FFF2-40B4-BE49-F238E27FC236}">
                <a16:creationId xmlns:a16="http://schemas.microsoft.com/office/drawing/2014/main" id="{988F5D1E-8B47-02C7-1522-21B8252D78E4}"/>
              </a:ext>
            </a:extLst>
          </p:cNvPr>
          <p:cNvPicPr>
            <a:picLocks noChangeAspect="1"/>
          </p:cNvPicPr>
          <p:nvPr/>
        </p:nvPicPr>
        <p:blipFill>
          <a:blip r:embed="rId2"/>
          <a:stretch>
            <a:fillRect/>
          </a:stretch>
        </p:blipFill>
        <p:spPr>
          <a:xfrm>
            <a:off x="10448925" y="0"/>
            <a:ext cx="1743075" cy="1409700"/>
          </a:xfrm>
          <a:prstGeom prst="rect">
            <a:avLst/>
          </a:prstGeom>
        </p:spPr>
      </p:pic>
      <p:pic>
        <p:nvPicPr>
          <p:cNvPr id="5" name="Picture 4" descr="PlantUML diagram">
            <a:extLst>
              <a:ext uri="{FF2B5EF4-FFF2-40B4-BE49-F238E27FC236}">
                <a16:creationId xmlns:a16="http://schemas.microsoft.com/office/drawing/2014/main" id="{BA792EFF-F290-C862-8AC0-DC2308F525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53564" y="1488512"/>
            <a:ext cx="6000115" cy="3645433"/>
          </a:xfrm>
          <a:prstGeom prst="rect">
            <a:avLst/>
          </a:prstGeom>
          <a:noFill/>
          <a:ln>
            <a:noFill/>
          </a:ln>
        </p:spPr>
      </p:pic>
    </p:spTree>
    <p:extLst>
      <p:ext uri="{BB962C8B-B14F-4D97-AF65-F5344CB8AC3E}">
        <p14:creationId xmlns:p14="http://schemas.microsoft.com/office/powerpoint/2010/main" val="1835345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C6D9BE-4FD8-9308-5DDE-5F6EE1A55D7F}"/>
              </a:ext>
            </a:extLst>
          </p:cNvPr>
          <p:cNvSpPr txBox="1"/>
          <p:nvPr/>
        </p:nvSpPr>
        <p:spPr>
          <a:xfrm>
            <a:off x="8959895" y="1567570"/>
            <a:ext cx="4975122"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SEQUENCE DIAGRAM:</a:t>
            </a:r>
          </a:p>
        </p:txBody>
      </p:sp>
      <p:pic>
        <p:nvPicPr>
          <p:cNvPr id="3" name="Picture 2">
            <a:extLst>
              <a:ext uri="{FF2B5EF4-FFF2-40B4-BE49-F238E27FC236}">
                <a16:creationId xmlns:a16="http://schemas.microsoft.com/office/drawing/2014/main" id="{75BA78DF-B2F9-4637-FC06-6B1A31E8AC86}"/>
              </a:ext>
            </a:extLst>
          </p:cNvPr>
          <p:cNvPicPr>
            <a:picLocks noChangeAspect="1"/>
          </p:cNvPicPr>
          <p:nvPr/>
        </p:nvPicPr>
        <p:blipFill>
          <a:blip r:embed="rId2"/>
          <a:stretch>
            <a:fillRect/>
          </a:stretch>
        </p:blipFill>
        <p:spPr>
          <a:xfrm>
            <a:off x="10520516" y="56535"/>
            <a:ext cx="1671484" cy="1409700"/>
          </a:xfrm>
          <a:prstGeom prst="rect">
            <a:avLst/>
          </a:prstGeom>
        </p:spPr>
      </p:pic>
      <p:pic>
        <p:nvPicPr>
          <p:cNvPr id="5" name="Picture 4" descr="PlantUML diagram">
            <a:extLst>
              <a:ext uri="{FF2B5EF4-FFF2-40B4-BE49-F238E27FC236}">
                <a16:creationId xmlns:a16="http://schemas.microsoft.com/office/drawing/2014/main" id="{D07D217C-1BD1-A25D-8154-98921525223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37360" y="1567570"/>
            <a:ext cx="6380480" cy="3522590"/>
          </a:xfrm>
          <a:prstGeom prst="rect">
            <a:avLst/>
          </a:prstGeom>
          <a:noFill/>
          <a:ln>
            <a:noFill/>
          </a:ln>
        </p:spPr>
      </p:pic>
    </p:spTree>
    <p:extLst>
      <p:ext uri="{BB962C8B-B14F-4D97-AF65-F5344CB8AC3E}">
        <p14:creationId xmlns:p14="http://schemas.microsoft.com/office/powerpoint/2010/main" val="1028540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9CF024-9324-E1ED-2C52-3DEB91674A9F}"/>
              </a:ext>
            </a:extLst>
          </p:cNvPr>
          <p:cNvSpPr txBox="1"/>
          <p:nvPr/>
        </p:nvSpPr>
        <p:spPr>
          <a:xfrm>
            <a:off x="8737600" y="1248696"/>
            <a:ext cx="3385574"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COMPONENT DIAGRAM:</a:t>
            </a:r>
          </a:p>
        </p:txBody>
      </p:sp>
      <p:pic>
        <p:nvPicPr>
          <p:cNvPr id="7" name="Picture 6">
            <a:extLst>
              <a:ext uri="{FF2B5EF4-FFF2-40B4-BE49-F238E27FC236}">
                <a16:creationId xmlns:a16="http://schemas.microsoft.com/office/drawing/2014/main" id="{D669A9B1-A3FE-22DE-B7D2-F58EAD6DD022}"/>
              </a:ext>
            </a:extLst>
          </p:cNvPr>
          <p:cNvPicPr>
            <a:picLocks noChangeAspect="1"/>
          </p:cNvPicPr>
          <p:nvPr/>
        </p:nvPicPr>
        <p:blipFill>
          <a:blip r:embed="rId2"/>
          <a:stretch>
            <a:fillRect/>
          </a:stretch>
        </p:blipFill>
        <p:spPr>
          <a:xfrm>
            <a:off x="10668000" y="56535"/>
            <a:ext cx="1524000" cy="1192161"/>
          </a:xfrm>
          <a:prstGeom prst="rect">
            <a:avLst/>
          </a:prstGeom>
        </p:spPr>
      </p:pic>
      <p:pic>
        <p:nvPicPr>
          <p:cNvPr id="2" name="Picture 1" descr="PlantUML diagram">
            <a:extLst>
              <a:ext uri="{FF2B5EF4-FFF2-40B4-BE49-F238E27FC236}">
                <a16:creationId xmlns:a16="http://schemas.microsoft.com/office/drawing/2014/main" id="{D8D8B74E-95FE-31B8-E522-862CE8232DD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92961" y="1554480"/>
            <a:ext cx="5750242" cy="3280410"/>
          </a:xfrm>
          <a:prstGeom prst="rect">
            <a:avLst/>
          </a:prstGeom>
          <a:noFill/>
          <a:ln>
            <a:noFill/>
          </a:ln>
        </p:spPr>
      </p:pic>
    </p:spTree>
    <p:extLst>
      <p:ext uri="{BB962C8B-B14F-4D97-AF65-F5344CB8AC3E}">
        <p14:creationId xmlns:p14="http://schemas.microsoft.com/office/powerpoint/2010/main" val="4290717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63C4107-F276-3E5E-42BD-9CDB663143C9}"/>
              </a:ext>
            </a:extLst>
          </p:cNvPr>
          <p:cNvSpPr txBox="1"/>
          <p:nvPr/>
        </p:nvSpPr>
        <p:spPr>
          <a:xfrm>
            <a:off x="6862916" y="1002890"/>
            <a:ext cx="4709652"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ACTIVITY DIAGRAM:</a:t>
            </a:r>
          </a:p>
        </p:txBody>
      </p:sp>
      <p:pic>
        <p:nvPicPr>
          <p:cNvPr id="3" name="Picture 2">
            <a:extLst>
              <a:ext uri="{FF2B5EF4-FFF2-40B4-BE49-F238E27FC236}">
                <a16:creationId xmlns:a16="http://schemas.microsoft.com/office/drawing/2014/main" id="{29D86D75-0F9B-61CB-F2CD-D227AE1A3E65}"/>
              </a:ext>
            </a:extLst>
          </p:cNvPr>
          <p:cNvPicPr>
            <a:picLocks noChangeAspect="1"/>
          </p:cNvPicPr>
          <p:nvPr/>
        </p:nvPicPr>
        <p:blipFill>
          <a:blip r:embed="rId2"/>
          <a:stretch>
            <a:fillRect/>
          </a:stretch>
        </p:blipFill>
        <p:spPr>
          <a:xfrm>
            <a:off x="10524050" y="128433"/>
            <a:ext cx="1667950" cy="1409700"/>
          </a:xfrm>
          <a:prstGeom prst="rect">
            <a:avLst/>
          </a:prstGeom>
        </p:spPr>
      </p:pic>
      <p:pic>
        <p:nvPicPr>
          <p:cNvPr id="7" name="Picture 6" descr="PlantUML diagram">
            <a:extLst>
              <a:ext uri="{FF2B5EF4-FFF2-40B4-BE49-F238E27FC236}">
                <a16:creationId xmlns:a16="http://schemas.microsoft.com/office/drawing/2014/main" id="{114E53FA-FF36-E9A7-D5EB-A17A8CB14D5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6550" y="1538133"/>
            <a:ext cx="5158740" cy="3609340"/>
          </a:xfrm>
          <a:prstGeom prst="rect">
            <a:avLst/>
          </a:prstGeom>
          <a:noFill/>
          <a:ln>
            <a:noFill/>
          </a:ln>
        </p:spPr>
      </p:pic>
    </p:spTree>
    <p:extLst>
      <p:ext uri="{BB962C8B-B14F-4D97-AF65-F5344CB8AC3E}">
        <p14:creationId xmlns:p14="http://schemas.microsoft.com/office/powerpoint/2010/main" val="1891296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0B1488-E64C-8333-2CF6-74E17724D080}"/>
              </a:ext>
            </a:extLst>
          </p:cNvPr>
          <p:cNvSpPr txBox="1"/>
          <p:nvPr/>
        </p:nvSpPr>
        <p:spPr>
          <a:xfrm>
            <a:off x="580103" y="1071716"/>
            <a:ext cx="3795252" cy="400110"/>
          </a:xfrm>
          <a:prstGeom prst="rect">
            <a:avLst/>
          </a:prstGeom>
          <a:noFill/>
        </p:spPr>
        <p:txBody>
          <a:bodyPr wrap="square" rtlCol="0">
            <a:spAutoFit/>
          </a:bodyPr>
          <a:lstStyle/>
          <a:p>
            <a:r>
              <a:rPr lang="en-IN" sz="2000" b="1" dirty="0">
                <a:solidFill>
                  <a:srgbClr val="FF0000"/>
                </a:solidFill>
                <a:latin typeface="Times New Roman" panose="02020603050405020304" pitchFamily="18" charset="0"/>
                <a:cs typeface="Times New Roman" panose="02020603050405020304" pitchFamily="18" charset="0"/>
              </a:rPr>
              <a:t>SAMPLE CODE:</a:t>
            </a:r>
          </a:p>
        </p:txBody>
      </p:sp>
      <p:sp>
        <p:nvSpPr>
          <p:cNvPr id="5" name="TextBox 4">
            <a:extLst>
              <a:ext uri="{FF2B5EF4-FFF2-40B4-BE49-F238E27FC236}">
                <a16:creationId xmlns:a16="http://schemas.microsoft.com/office/drawing/2014/main" id="{985128DC-0526-AD8D-F063-4A2BB3068009}"/>
              </a:ext>
            </a:extLst>
          </p:cNvPr>
          <p:cNvSpPr txBox="1"/>
          <p:nvPr/>
        </p:nvSpPr>
        <p:spPr>
          <a:xfrm>
            <a:off x="2920180" y="904568"/>
            <a:ext cx="7059561" cy="4524315"/>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 views.py (Django Backend)</a:t>
            </a:r>
          </a:p>
          <a:p>
            <a:r>
              <a:rPr lang="en-IN" sz="1600" dirty="0">
                <a:latin typeface="Times New Roman" panose="02020603050405020304" pitchFamily="18" charset="0"/>
                <a:cs typeface="Times New Roman" panose="02020603050405020304" pitchFamily="18" charset="0"/>
              </a:rPr>
              <a:t>from </a:t>
            </a:r>
            <a:r>
              <a:rPr lang="en-IN" sz="1600" dirty="0" err="1">
                <a:latin typeface="Times New Roman" panose="02020603050405020304" pitchFamily="18" charset="0"/>
                <a:cs typeface="Times New Roman" panose="02020603050405020304" pitchFamily="18" charset="0"/>
              </a:rPr>
              <a:t>django.shortcuts</a:t>
            </a:r>
            <a:r>
              <a:rPr lang="en-IN" sz="1600" dirty="0">
                <a:latin typeface="Times New Roman" panose="02020603050405020304" pitchFamily="18" charset="0"/>
                <a:cs typeface="Times New Roman" panose="02020603050405020304" pitchFamily="18" charset="0"/>
              </a:rPr>
              <a:t> import render</a:t>
            </a:r>
          </a:p>
          <a:p>
            <a:r>
              <a:rPr lang="en-IN" sz="1600" dirty="0">
                <a:latin typeface="Times New Roman" panose="02020603050405020304" pitchFamily="18" charset="0"/>
                <a:cs typeface="Times New Roman" panose="02020603050405020304" pitchFamily="18" charset="0"/>
              </a:rPr>
              <a:t>from .models import Student</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def home(request):</a:t>
            </a:r>
          </a:p>
          <a:p>
            <a:r>
              <a:rPr lang="en-IN" sz="1600" dirty="0">
                <a:latin typeface="Times New Roman" panose="02020603050405020304" pitchFamily="18" charset="0"/>
                <a:cs typeface="Times New Roman" panose="02020603050405020304" pitchFamily="18" charset="0"/>
              </a:rPr>
              <a:t>    return render(request, "index.html")</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def </a:t>
            </a:r>
            <a:r>
              <a:rPr lang="en-IN" sz="1600" dirty="0" err="1">
                <a:latin typeface="Times New Roman" panose="02020603050405020304" pitchFamily="18" charset="0"/>
                <a:cs typeface="Times New Roman" panose="02020603050405020304" pitchFamily="18" charset="0"/>
              </a:rPr>
              <a:t>add_student</a:t>
            </a:r>
            <a:r>
              <a:rPr lang="en-IN" sz="1600" dirty="0">
                <a:latin typeface="Times New Roman" panose="02020603050405020304" pitchFamily="18" charset="0"/>
                <a:cs typeface="Times New Roman" panose="02020603050405020304" pitchFamily="18" charset="0"/>
              </a:rPr>
              <a:t>(request):</a:t>
            </a:r>
          </a:p>
          <a:p>
            <a:r>
              <a:rPr lang="en-IN" sz="1600" dirty="0">
                <a:latin typeface="Times New Roman" panose="02020603050405020304" pitchFamily="18" charset="0"/>
                <a:cs typeface="Times New Roman" panose="02020603050405020304" pitchFamily="18" charset="0"/>
              </a:rPr>
              <a:t>    if </a:t>
            </a:r>
            <a:r>
              <a:rPr lang="en-IN" sz="1600" dirty="0" err="1">
                <a:latin typeface="Times New Roman" panose="02020603050405020304" pitchFamily="18" charset="0"/>
                <a:cs typeface="Times New Roman" panose="02020603050405020304" pitchFamily="18" charset="0"/>
              </a:rPr>
              <a:t>request.method</a:t>
            </a:r>
            <a:r>
              <a:rPr lang="en-IN" sz="1600" dirty="0">
                <a:latin typeface="Times New Roman" panose="02020603050405020304" pitchFamily="18" charset="0"/>
                <a:cs typeface="Times New Roman" panose="02020603050405020304" pitchFamily="18" charset="0"/>
              </a:rPr>
              <a:t> == "POST":</a:t>
            </a:r>
          </a:p>
          <a:p>
            <a:r>
              <a:rPr lang="en-IN" sz="1600" dirty="0">
                <a:latin typeface="Times New Roman" panose="02020603050405020304" pitchFamily="18" charset="0"/>
                <a:cs typeface="Times New Roman" panose="02020603050405020304" pitchFamily="18" charset="0"/>
              </a:rPr>
              <a:t>        name = </a:t>
            </a:r>
            <a:r>
              <a:rPr lang="en-IN" sz="1600" dirty="0" err="1">
                <a:latin typeface="Times New Roman" panose="02020603050405020304" pitchFamily="18" charset="0"/>
                <a:cs typeface="Times New Roman" panose="02020603050405020304" pitchFamily="18" charset="0"/>
              </a:rPr>
              <a:t>request.POST.get</a:t>
            </a:r>
            <a:r>
              <a:rPr lang="en-IN" sz="1600" dirty="0">
                <a:latin typeface="Times New Roman" panose="02020603050405020304" pitchFamily="18" charset="0"/>
                <a:cs typeface="Times New Roman" panose="02020603050405020304" pitchFamily="18" charset="0"/>
              </a:rPr>
              <a:t>("name")</a:t>
            </a:r>
          </a:p>
          <a:p>
            <a:r>
              <a:rPr lang="en-IN" sz="1600" dirty="0">
                <a:latin typeface="Times New Roman" panose="02020603050405020304" pitchFamily="18" charset="0"/>
                <a:cs typeface="Times New Roman" panose="02020603050405020304" pitchFamily="18" charset="0"/>
              </a:rPr>
              <a:t>        marks = </a:t>
            </a:r>
            <a:r>
              <a:rPr lang="en-IN" sz="1600" dirty="0" err="1">
                <a:latin typeface="Times New Roman" panose="02020603050405020304" pitchFamily="18" charset="0"/>
                <a:cs typeface="Times New Roman" panose="02020603050405020304" pitchFamily="18" charset="0"/>
              </a:rPr>
              <a:t>request.POST.get</a:t>
            </a:r>
            <a:r>
              <a:rPr lang="en-IN" sz="1600" dirty="0">
                <a:latin typeface="Times New Roman" panose="02020603050405020304" pitchFamily="18" charset="0"/>
                <a:cs typeface="Times New Roman" panose="02020603050405020304" pitchFamily="18" charset="0"/>
              </a:rPr>
              <a:t>("marks")</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student = Student(name=name, marks=marks)</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student.save</a:t>
            </a:r>
            <a:r>
              <a:rPr lang="en-IN" sz="1600" dirty="0">
                <a:latin typeface="Times New Roman" panose="02020603050405020304" pitchFamily="18" charset="0"/>
                <a:cs typeface="Times New Roman" panose="02020603050405020304" pitchFamily="18" charset="0"/>
              </a:rPr>
              <a:t>()</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return render(request, "success.html")</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return render(request, "add_student.html")</a:t>
            </a:r>
          </a:p>
        </p:txBody>
      </p:sp>
    </p:spTree>
    <p:extLst>
      <p:ext uri="{BB962C8B-B14F-4D97-AF65-F5344CB8AC3E}">
        <p14:creationId xmlns:p14="http://schemas.microsoft.com/office/powerpoint/2010/main" val="2144494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51D26E-2570-8772-3CB8-526CBF80D90C}"/>
              </a:ext>
            </a:extLst>
          </p:cNvPr>
          <p:cNvSpPr>
            <a:spLocks noGrp="1"/>
          </p:cNvSpPr>
          <p:nvPr>
            <p:ph idx="1"/>
          </p:nvPr>
        </p:nvSpPr>
        <p:spPr>
          <a:xfrm>
            <a:off x="1130270" y="1271016"/>
            <a:ext cx="9603275" cy="4195329"/>
          </a:xfrm>
        </p:spPr>
        <p:txBody>
          <a:bodyPr>
            <a:noAutofit/>
          </a:bodyPr>
          <a:lstStyle/>
          <a:p>
            <a:pPr marL="0" indent="0">
              <a:buNone/>
            </a:pPr>
            <a:r>
              <a:rPr lang="en-IN" sz="1600" dirty="0">
                <a:latin typeface="Times New Roman" panose="02020603050405020304" pitchFamily="18" charset="0"/>
                <a:cs typeface="Times New Roman" panose="02020603050405020304" pitchFamily="18" charset="0"/>
              </a:rPr>
              <a:t>import pandas as pd</a:t>
            </a:r>
          </a:p>
          <a:p>
            <a:pPr marL="0" indent="0">
              <a:buNone/>
            </a:pPr>
            <a:r>
              <a:rPr lang="en-IN" sz="1600" dirty="0">
                <a:latin typeface="Times New Roman" panose="02020603050405020304" pitchFamily="18" charset="0"/>
                <a:cs typeface="Times New Roman" panose="02020603050405020304" pitchFamily="18" charset="0"/>
              </a:rPr>
              <a:t># Load dataset</a:t>
            </a:r>
          </a:p>
          <a:p>
            <a:pPr marL="0" indent="0">
              <a:buNone/>
            </a:pPr>
            <a:r>
              <a:rPr lang="en-IN" sz="1600" dirty="0">
                <a:latin typeface="Times New Roman" panose="02020603050405020304" pitchFamily="18" charset="0"/>
                <a:cs typeface="Times New Roman" panose="02020603050405020304" pitchFamily="18" charset="0"/>
              </a:rPr>
              <a:t>data = </a:t>
            </a:r>
            <a:r>
              <a:rPr lang="en-IN" sz="1600" dirty="0" err="1">
                <a:latin typeface="Times New Roman" panose="02020603050405020304" pitchFamily="18" charset="0"/>
                <a:cs typeface="Times New Roman" panose="02020603050405020304" pitchFamily="18" charset="0"/>
              </a:rPr>
              <a:t>pd.read_csv</a:t>
            </a:r>
            <a:r>
              <a:rPr lang="en-IN" sz="1600" dirty="0">
                <a:latin typeface="Times New Roman" panose="02020603050405020304" pitchFamily="18" charset="0"/>
                <a:cs typeface="Times New Roman" panose="02020603050405020304" pitchFamily="18" charset="0"/>
              </a:rPr>
              <a:t>("student_data.csv")</a:t>
            </a:r>
          </a:p>
          <a:p>
            <a:pPr marL="0" indent="0">
              <a:buNone/>
            </a:pPr>
            <a:r>
              <a:rPr lang="en-IN" sz="1600" dirty="0">
                <a:latin typeface="Times New Roman" panose="02020603050405020304" pitchFamily="18" charset="0"/>
                <a:cs typeface="Times New Roman" panose="02020603050405020304" pitchFamily="18" charset="0"/>
              </a:rPr>
              <a:t># Handle missing values</a:t>
            </a:r>
          </a:p>
          <a:p>
            <a:pPr marL="0" indent="0">
              <a:buNone/>
            </a:pPr>
            <a:r>
              <a:rPr lang="en-IN" sz="1600" dirty="0" err="1">
                <a:latin typeface="Times New Roman" panose="02020603050405020304" pitchFamily="18" charset="0"/>
                <a:cs typeface="Times New Roman" panose="02020603050405020304" pitchFamily="18" charset="0"/>
              </a:rPr>
              <a:t>data.fillna</a:t>
            </a:r>
            <a:r>
              <a:rPr lang="en-IN" sz="1600" dirty="0">
                <a:latin typeface="Times New Roman" panose="02020603050405020304" pitchFamily="18" charset="0"/>
                <a:cs typeface="Times New Roman" panose="02020603050405020304" pitchFamily="18" charset="0"/>
              </a:rPr>
              <a:t>(0, </a:t>
            </a:r>
            <a:r>
              <a:rPr lang="en-IN" sz="1600" dirty="0" err="1">
                <a:latin typeface="Times New Roman" panose="02020603050405020304" pitchFamily="18" charset="0"/>
                <a:cs typeface="Times New Roman" panose="02020603050405020304" pitchFamily="18" charset="0"/>
              </a:rPr>
              <a:t>inplace</a:t>
            </a:r>
            <a:r>
              <a:rPr lang="en-IN" sz="1600" dirty="0">
                <a:latin typeface="Times New Roman" panose="02020603050405020304" pitchFamily="18" charset="0"/>
                <a:cs typeface="Times New Roman" panose="02020603050405020304" pitchFamily="18" charset="0"/>
              </a:rPr>
              <a:t>=True)</a:t>
            </a:r>
          </a:p>
          <a:p>
            <a:pPr marL="0" indent="0">
              <a:buNone/>
            </a:pPr>
            <a:r>
              <a:rPr lang="en-IN" sz="1600" dirty="0">
                <a:latin typeface="Times New Roman" panose="02020603050405020304" pitchFamily="18" charset="0"/>
                <a:cs typeface="Times New Roman" panose="02020603050405020304" pitchFamily="18" charset="0"/>
              </a:rPr>
              <a:t># Feature selection</a:t>
            </a:r>
          </a:p>
          <a:p>
            <a:pPr marL="0" indent="0">
              <a:buNone/>
            </a:pPr>
            <a:r>
              <a:rPr lang="en-IN" sz="1600" dirty="0">
                <a:latin typeface="Times New Roman" panose="02020603050405020304" pitchFamily="18" charset="0"/>
                <a:cs typeface="Times New Roman" panose="02020603050405020304" pitchFamily="18" charset="0"/>
              </a:rPr>
              <a:t>X = data[['marks', 'attendance']]</a:t>
            </a:r>
          </a:p>
          <a:p>
            <a:pPr marL="0" indent="0">
              <a:buNone/>
            </a:pPr>
            <a:r>
              <a:rPr lang="en-IN" sz="1600" dirty="0">
                <a:latin typeface="Times New Roman" panose="02020603050405020304" pitchFamily="18" charset="0"/>
                <a:cs typeface="Times New Roman" panose="02020603050405020304" pitchFamily="18" charset="0"/>
              </a:rPr>
              <a:t>y = data['performance']</a:t>
            </a:r>
          </a:p>
          <a:p>
            <a:pPr marL="0" indent="0">
              <a:buNone/>
            </a:pPr>
            <a:r>
              <a:rPr lang="en-IN" sz="1600" dirty="0">
                <a:latin typeface="Times New Roman" panose="02020603050405020304" pitchFamily="18" charset="0"/>
                <a:cs typeface="Times New Roman" panose="02020603050405020304" pitchFamily="18" charset="0"/>
              </a:rPr>
              <a:t>print(</a:t>
            </a:r>
            <a:r>
              <a:rPr lang="en-IN" sz="1600" dirty="0" err="1">
                <a:latin typeface="Times New Roman" panose="02020603050405020304" pitchFamily="18" charset="0"/>
                <a:cs typeface="Times New Roman" panose="02020603050405020304" pitchFamily="18" charset="0"/>
              </a:rPr>
              <a:t>X.head</a:t>
            </a:r>
            <a:r>
              <a:rPr lang="en-IN"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3940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51DAEC-A6C6-EDCB-06F3-39216D324BA5}"/>
              </a:ext>
            </a:extLst>
          </p:cNvPr>
          <p:cNvSpPr>
            <a:spLocks noGrp="1"/>
          </p:cNvSpPr>
          <p:nvPr>
            <p:ph idx="1"/>
          </p:nvPr>
        </p:nvSpPr>
        <p:spPr>
          <a:xfrm>
            <a:off x="1130270" y="1005840"/>
            <a:ext cx="9603275" cy="4460505"/>
          </a:xfrm>
        </p:spPr>
        <p:txBody>
          <a:bodyPr>
            <a:noAutofit/>
          </a:bodyPr>
          <a:lstStyle/>
          <a:p>
            <a:pPr marL="0" indent="0">
              <a:buNone/>
            </a:pPr>
            <a:r>
              <a:rPr lang="en-IN" sz="1600" dirty="0">
                <a:latin typeface="Times New Roman" panose="02020603050405020304" pitchFamily="18" charset="0"/>
                <a:cs typeface="Times New Roman" panose="02020603050405020304" pitchFamily="18" charset="0"/>
              </a:rPr>
              <a:t>from </a:t>
            </a:r>
            <a:r>
              <a:rPr lang="en-IN" sz="1600" dirty="0" err="1">
                <a:latin typeface="Times New Roman" panose="02020603050405020304" pitchFamily="18" charset="0"/>
                <a:cs typeface="Times New Roman" panose="02020603050405020304" pitchFamily="18" charset="0"/>
              </a:rPr>
              <a:t>sklearn.model_selection</a:t>
            </a:r>
            <a:r>
              <a:rPr lang="en-IN" sz="1600" dirty="0">
                <a:latin typeface="Times New Roman" panose="02020603050405020304" pitchFamily="18" charset="0"/>
                <a:cs typeface="Times New Roman" panose="02020603050405020304" pitchFamily="18" charset="0"/>
              </a:rPr>
              <a:t> import </a:t>
            </a:r>
            <a:r>
              <a:rPr lang="en-IN" sz="1600" dirty="0" err="1">
                <a:latin typeface="Times New Roman" panose="02020603050405020304" pitchFamily="18" charset="0"/>
                <a:cs typeface="Times New Roman" panose="02020603050405020304" pitchFamily="18" charset="0"/>
              </a:rPr>
              <a:t>train_test_split</a:t>
            </a:r>
            <a:endParaRPr lang="en-IN" sz="1600" dirty="0">
              <a:latin typeface="Times New Roman" panose="02020603050405020304" pitchFamily="18" charset="0"/>
              <a:cs typeface="Times New Roman" panose="02020603050405020304" pitchFamily="18" charset="0"/>
            </a:endParaRPr>
          </a:p>
          <a:p>
            <a:pPr marL="0" indent="0">
              <a:buNone/>
            </a:pPr>
            <a:r>
              <a:rPr lang="en-IN" sz="1600" dirty="0">
                <a:latin typeface="Times New Roman" panose="02020603050405020304" pitchFamily="18" charset="0"/>
                <a:cs typeface="Times New Roman" panose="02020603050405020304" pitchFamily="18" charset="0"/>
              </a:rPr>
              <a:t>from </a:t>
            </a:r>
            <a:r>
              <a:rPr lang="en-IN" sz="1600" dirty="0" err="1">
                <a:latin typeface="Times New Roman" panose="02020603050405020304" pitchFamily="18" charset="0"/>
                <a:cs typeface="Times New Roman" panose="02020603050405020304" pitchFamily="18" charset="0"/>
              </a:rPr>
              <a:t>sklearn.naive_bayes</a:t>
            </a:r>
            <a:r>
              <a:rPr lang="en-IN" sz="1600" dirty="0">
                <a:latin typeface="Times New Roman" panose="02020603050405020304" pitchFamily="18" charset="0"/>
                <a:cs typeface="Times New Roman" panose="02020603050405020304" pitchFamily="18" charset="0"/>
              </a:rPr>
              <a:t> import </a:t>
            </a:r>
            <a:r>
              <a:rPr lang="en-IN" sz="1600" dirty="0" err="1">
                <a:latin typeface="Times New Roman" panose="02020603050405020304" pitchFamily="18" charset="0"/>
                <a:cs typeface="Times New Roman" panose="02020603050405020304" pitchFamily="18" charset="0"/>
              </a:rPr>
              <a:t>GaussianNB</a:t>
            </a:r>
            <a:endParaRPr lang="en-IN" sz="1600" dirty="0">
              <a:latin typeface="Times New Roman" panose="02020603050405020304" pitchFamily="18" charset="0"/>
              <a:cs typeface="Times New Roman" panose="02020603050405020304" pitchFamily="18" charset="0"/>
            </a:endParaRPr>
          </a:p>
          <a:p>
            <a:pPr marL="0" indent="0">
              <a:buNone/>
            </a:pPr>
            <a:r>
              <a:rPr lang="en-IN" sz="1600" dirty="0">
                <a:latin typeface="Times New Roman" panose="02020603050405020304" pitchFamily="18" charset="0"/>
                <a:cs typeface="Times New Roman" panose="02020603050405020304" pitchFamily="18" charset="0"/>
              </a:rPr>
              <a:t>from </a:t>
            </a:r>
            <a:r>
              <a:rPr lang="en-IN" sz="1600" dirty="0" err="1">
                <a:latin typeface="Times New Roman" panose="02020603050405020304" pitchFamily="18" charset="0"/>
                <a:cs typeface="Times New Roman" panose="02020603050405020304" pitchFamily="18" charset="0"/>
              </a:rPr>
              <a:t>sklearn.metrics</a:t>
            </a:r>
            <a:r>
              <a:rPr lang="en-IN" sz="1600" dirty="0">
                <a:latin typeface="Times New Roman" panose="02020603050405020304" pitchFamily="18" charset="0"/>
                <a:cs typeface="Times New Roman" panose="02020603050405020304" pitchFamily="18" charset="0"/>
              </a:rPr>
              <a:t> import </a:t>
            </a:r>
            <a:r>
              <a:rPr lang="en-IN" sz="1600" dirty="0" err="1">
                <a:latin typeface="Times New Roman" panose="02020603050405020304" pitchFamily="18" charset="0"/>
                <a:cs typeface="Times New Roman" panose="02020603050405020304" pitchFamily="18" charset="0"/>
              </a:rPr>
              <a:t>accuracy_score</a:t>
            </a:r>
            <a:endParaRPr lang="en-IN" sz="1600" dirty="0">
              <a:latin typeface="Times New Roman" panose="02020603050405020304" pitchFamily="18" charset="0"/>
              <a:cs typeface="Times New Roman" panose="02020603050405020304" pitchFamily="18" charset="0"/>
            </a:endParaRPr>
          </a:p>
          <a:p>
            <a:pPr marL="0" indent="0">
              <a:buNone/>
            </a:pPr>
            <a:r>
              <a:rPr lang="en-IN" sz="1600" dirty="0">
                <a:latin typeface="Times New Roman" panose="02020603050405020304" pitchFamily="18" charset="0"/>
                <a:cs typeface="Times New Roman" panose="02020603050405020304" pitchFamily="18" charset="0"/>
              </a:rPr>
              <a:t># Split data</a:t>
            </a:r>
          </a:p>
          <a:p>
            <a:pPr marL="0" indent="0">
              <a:buNone/>
            </a:pPr>
            <a:r>
              <a:rPr lang="en-IN" sz="1600" dirty="0" err="1">
                <a:latin typeface="Times New Roman" panose="02020603050405020304" pitchFamily="18" charset="0"/>
                <a:cs typeface="Times New Roman" panose="02020603050405020304" pitchFamily="18" charset="0"/>
              </a:rPr>
              <a:t>X_train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X_test</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y_train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y_test</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train_test_split</a:t>
            </a:r>
            <a:r>
              <a:rPr lang="en-IN" sz="1600" dirty="0">
                <a:latin typeface="Times New Roman" panose="02020603050405020304" pitchFamily="18" charset="0"/>
                <a:cs typeface="Times New Roman" panose="02020603050405020304" pitchFamily="18" charset="0"/>
              </a:rPr>
              <a:t>(X, y, </a:t>
            </a:r>
            <a:r>
              <a:rPr lang="en-IN" sz="1600" dirty="0" err="1">
                <a:latin typeface="Times New Roman" panose="02020603050405020304" pitchFamily="18" charset="0"/>
                <a:cs typeface="Times New Roman" panose="02020603050405020304" pitchFamily="18" charset="0"/>
              </a:rPr>
              <a:t>test_size</a:t>
            </a:r>
            <a:r>
              <a:rPr lang="en-IN" sz="1600" dirty="0">
                <a:latin typeface="Times New Roman" panose="02020603050405020304" pitchFamily="18" charset="0"/>
                <a:cs typeface="Times New Roman" panose="02020603050405020304" pitchFamily="18" charset="0"/>
              </a:rPr>
              <a:t>=0.2)</a:t>
            </a:r>
          </a:p>
          <a:p>
            <a:pPr marL="0" indent="0">
              <a:buNone/>
            </a:pPr>
            <a:r>
              <a:rPr lang="en-IN" sz="1600" dirty="0">
                <a:latin typeface="Times New Roman" panose="02020603050405020304" pitchFamily="18" charset="0"/>
                <a:cs typeface="Times New Roman" panose="02020603050405020304" pitchFamily="18" charset="0"/>
              </a:rPr>
              <a:t># Model training</a:t>
            </a:r>
          </a:p>
          <a:p>
            <a:pPr marL="0" indent="0">
              <a:buNone/>
            </a:pPr>
            <a:r>
              <a:rPr lang="en-IN" sz="1600" dirty="0">
                <a:latin typeface="Times New Roman" panose="02020603050405020304" pitchFamily="18" charset="0"/>
                <a:cs typeface="Times New Roman" panose="02020603050405020304" pitchFamily="18" charset="0"/>
              </a:rPr>
              <a:t>model = </a:t>
            </a:r>
            <a:r>
              <a:rPr lang="en-IN" sz="1600" dirty="0" err="1">
                <a:latin typeface="Times New Roman" panose="02020603050405020304" pitchFamily="18" charset="0"/>
                <a:cs typeface="Times New Roman" panose="02020603050405020304" pitchFamily="18" charset="0"/>
              </a:rPr>
              <a:t>GaussianNB</a:t>
            </a:r>
            <a:r>
              <a:rPr lang="en-IN" sz="1600" dirty="0">
                <a:latin typeface="Times New Roman" panose="02020603050405020304" pitchFamily="18" charset="0"/>
                <a:cs typeface="Times New Roman" panose="02020603050405020304" pitchFamily="18" charset="0"/>
              </a:rPr>
              <a:t>()</a:t>
            </a:r>
          </a:p>
          <a:p>
            <a:pPr marL="0" indent="0">
              <a:buNone/>
            </a:pPr>
            <a:r>
              <a:rPr lang="en-IN" sz="1600" dirty="0" err="1">
                <a:latin typeface="Times New Roman" panose="02020603050405020304" pitchFamily="18" charset="0"/>
                <a:cs typeface="Times New Roman" panose="02020603050405020304" pitchFamily="18" charset="0"/>
              </a:rPr>
              <a:t>model.fit</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X_train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y_train</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 Prediction</a:t>
            </a:r>
          </a:p>
          <a:p>
            <a:pPr marL="0" indent="0">
              <a:buNone/>
            </a:pPr>
            <a:r>
              <a:rPr lang="en-IN" sz="1600" dirty="0" err="1">
                <a:latin typeface="Times New Roman" panose="02020603050405020304" pitchFamily="18" charset="0"/>
                <a:cs typeface="Times New Roman" panose="02020603050405020304" pitchFamily="18" charset="0"/>
              </a:rPr>
              <a:t>y_pred</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model.predict</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X_test</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 Accuracy</a:t>
            </a:r>
          </a:p>
          <a:p>
            <a:pPr marL="0" indent="0">
              <a:buNone/>
            </a:pPr>
            <a:r>
              <a:rPr lang="en-IN" sz="1600" dirty="0">
                <a:latin typeface="Times New Roman" panose="02020603050405020304" pitchFamily="18" charset="0"/>
                <a:cs typeface="Times New Roman" panose="02020603050405020304" pitchFamily="18" charset="0"/>
              </a:rPr>
              <a:t>print("Accuracy:", </a:t>
            </a:r>
            <a:r>
              <a:rPr lang="en-IN" sz="1600" dirty="0" err="1">
                <a:latin typeface="Times New Roman" panose="02020603050405020304" pitchFamily="18" charset="0"/>
                <a:cs typeface="Times New Roman" panose="02020603050405020304" pitchFamily="18" charset="0"/>
              </a:rPr>
              <a:t>accuracy_score</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y_test</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y_pred</a:t>
            </a:r>
            <a:r>
              <a:rPr lang="en-IN"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90263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C2A0A5-8C9D-1EBA-017D-D013CADE3751}"/>
              </a:ext>
            </a:extLst>
          </p:cNvPr>
          <p:cNvSpPr>
            <a:spLocks noGrp="1"/>
          </p:cNvSpPr>
          <p:nvPr>
            <p:ph idx="1"/>
          </p:nvPr>
        </p:nvSpPr>
        <p:spPr>
          <a:xfrm>
            <a:off x="1130270" y="1536192"/>
            <a:ext cx="9603275" cy="3930153"/>
          </a:xfrm>
        </p:spPr>
        <p:txBody>
          <a:bodyPr>
            <a:noAutofit/>
          </a:bodyPr>
          <a:lstStyle/>
          <a:p>
            <a:pPr marL="0" indent="0">
              <a:buNone/>
            </a:pPr>
            <a:r>
              <a:rPr lang="en-IN" sz="1600" dirty="0">
                <a:latin typeface="Times New Roman" panose="02020603050405020304" pitchFamily="18" charset="0"/>
                <a:cs typeface="Times New Roman" panose="02020603050405020304" pitchFamily="18" charset="0"/>
              </a:rPr>
              <a:t>from </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import </a:t>
            </a:r>
            <a:r>
              <a:rPr lang="en-IN" sz="1600" dirty="0" err="1">
                <a:latin typeface="Times New Roman" panose="02020603050405020304" pitchFamily="18" charset="0"/>
                <a:cs typeface="Times New Roman" panose="02020603050405020304" pitchFamily="18" charset="0"/>
              </a:rPr>
              <a:t>XGBClassifier</a:t>
            </a:r>
            <a:endParaRPr lang="en-IN" sz="1600" dirty="0">
              <a:latin typeface="Times New Roman" panose="02020603050405020304" pitchFamily="18" charset="0"/>
              <a:cs typeface="Times New Roman" panose="02020603050405020304" pitchFamily="18" charset="0"/>
            </a:endParaRPr>
          </a:p>
          <a:p>
            <a:pPr marL="0" indent="0">
              <a:buNone/>
            </a:pPr>
            <a:r>
              <a:rPr lang="en-IN" sz="1600" dirty="0">
                <a:latin typeface="Times New Roman" panose="02020603050405020304" pitchFamily="18" charset="0"/>
                <a:cs typeface="Times New Roman" panose="02020603050405020304" pitchFamily="18" charset="0"/>
              </a:rPr>
              <a:t># Create model</a:t>
            </a:r>
          </a:p>
          <a:p>
            <a:pPr marL="0" indent="0">
              <a:buNone/>
            </a:pPr>
            <a:r>
              <a:rPr lang="en-IN" sz="1600" dirty="0" err="1">
                <a:latin typeface="Times New Roman" panose="02020603050405020304" pitchFamily="18" charset="0"/>
                <a:cs typeface="Times New Roman" panose="02020603050405020304" pitchFamily="18" charset="0"/>
              </a:rPr>
              <a:t>xgb</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XGBClassifier</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 Train model</a:t>
            </a:r>
          </a:p>
          <a:p>
            <a:pPr marL="0" indent="0">
              <a:buNone/>
            </a:pPr>
            <a:r>
              <a:rPr lang="en-IN" sz="1600" dirty="0" err="1">
                <a:latin typeface="Times New Roman" panose="02020603050405020304" pitchFamily="18" charset="0"/>
                <a:cs typeface="Times New Roman" panose="02020603050405020304" pitchFamily="18" charset="0"/>
              </a:rPr>
              <a:t>xgb.fit</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X_train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y_train</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 Predict</a:t>
            </a:r>
          </a:p>
          <a:p>
            <a:pPr marL="0" indent="0">
              <a:buNone/>
            </a:pPr>
            <a:r>
              <a:rPr lang="en-IN" sz="1600" dirty="0" err="1">
                <a:latin typeface="Times New Roman" panose="02020603050405020304" pitchFamily="18" charset="0"/>
                <a:cs typeface="Times New Roman" panose="02020603050405020304" pitchFamily="18" charset="0"/>
              </a:rPr>
              <a:t>y_pred</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xgb.predict</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X_test</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 Accuracy</a:t>
            </a:r>
          </a:p>
          <a:p>
            <a:pPr marL="0" indent="0">
              <a:buNone/>
            </a:pPr>
            <a:r>
              <a:rPr lang="en-IN" sz="1600" dirty="0">
                <a:latin typeface="Times New Roman" panose="02020603050405020304" pitchFamily="18" charset="0"/>
                <a:cs typeface="Times New Roman" panose="02020603050405020304" pitchFamily="18" charset="0"/>
              </a:rPr>
              <a:t>from </a:t>
            </a:r>
            <a:r>
              <a:rPr lang="en-IN" sz="1600" dirty="0" err="1">
                <a:latin typeface="Times New Roman" panose="02020603050405020304" pitchFamily="18" charset="0"/>
                <a:cs typeface="Times New Roman" panose="02020603050405020304" pitchFamily="18" charset="0"/>
              </a:rPr>
              <a:t>sklearn.metrics</a:t>
            </a:r>
            <a:r>
              <a:rPr lang="en-IN" sz="1600" dirty="0">
                <a:latin typeface="Times New Roman" panose="02020603050405020304" pitchFamily="18" charset="0"/>
                <a:cs typeface="Times New Roman" panose="02020603050405020304" pitchFamily="18" charset="0"/>
              </a:rPr>
              <a:t> import </a:t>
            </a:r>
            <a:r>
              <a:rPr lang="en-IN" sz="1600" dirty="0" err="1">
                <a:latin typeface="Times New Roman" panose="02020603050405020304" pitchFamily="18" charset="0"/>
                <a:cs typeface="Times New Roman" panose="02020603050405020304" pitchFamily="18" charset="0"/>
              </a:rPr>
              <a:t>accuracy_score</a:t>
            </a:r>
            <a:endParaRPr lang="en-IN" sz="1600" dirty="0">
              <a:latin typeface="Times New Roman" panose="02020603050405020304" pitchFamily="18" charset="0"/>
              <a:cs typeface="Times New Roman" panose="02020603050405020304" pitchFamily="18" charset="0"/>
            </a:endParaRPr>
          </a:p>
          <a:p>
            <a:pPr marL="0" indent="0">
              <a:buNone/>
            </a:pPr>
            <a:r>
              <a:rPr lang="en-IN" sz="1600" dirty="0">
                <a:latin typeface="Times New Roman" panose="02020603050405020304" pitchFamily="18" charset="0"/>
                <a:cs typeface="Times New Roman" panose="02020603050405020304" pitchFamily="18" charset="0"/>
              </a:rPr>
              <a:t>print("</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Accuracy:", </a:t>
            </a:r>
            <a:r>
              <a:rPr lang="en-IN" sz="1600" dirty="0" err="1">
                <a:latin typeface="Times New Roman" panose="02020603050405020304" pitchFamily="18" charset="0"/>
                <a:cs typeface="Times New Roman" panose="02020603050405020304" pitchFamily="18" charset="0"/>
              </a:rPr>
              <a:t>accuracy_score</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y_test</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y_pred</a:t>
            </a:r>
            <a:r>
              <a:rPr lang="en-IN"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1992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4BBB8D3-D40F-3832-7B3F-C2D583BB1A06}"/>
              </a:ext>
            </a:extLst>
          </p:cNvPr>
          <p:cNvSpPr txBox="1"/>
          <p:nvPr/>
        </p:nvSpPr>
        <p:spPr>
          <a:xfrm>
            <a:off x="540774" y="871877"/>
            <a:ext cx="3785419" cy="400110"/>
          </a:xfrm>
          <a:prstGeom prst="rect">
            <a:avLst/>
          </a:prstGeom>
          <a:noFill/>
        </p:spPr>
        <p:txBody>
          <a:bodyPr wrap="square" rtlCol="0">
            <a:spAutoFit/>
          </a:bodyPr>
          <a:lstStyle/>
          <a:p>
            <a:r>
              <a:rPr lang="en-IN" sz="2000" b="1" dirty="0">
                <a:solidFill>
                  <a:srgbClr val="FF0000"/>
                </a:solidFill>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14229BB4-49B4-BF20-2AC5-A531127262F8}"/>
              </a:ext>
            </a:extLst>
          </p:cNvPr>
          <p:cNvSpPr txBox="1"/>
          <p:nvPr/>
        </p:nvSpPr>
        <p:spPr>
          <a:xfrm>
            <a:off x="2106551" y="1382600"/>
            <a:ext cx="6100916" cy="369332"/>
          </a:xfrm>
          <a:prstGeom prst="rect">
            <a:avLst/>
          </a:prstGeom>
          <a:noFill/>
        </p:spPr>
        <p:txBody>
          <a:bodyPr wrap="square">
            <a:spAutoFit/>
          </a:bodyPr>
          <a:lstStyle/>
          <a:p>
            <a:r>
              <a:rPr lang="en-IN" sz="1800" b="1" dirty="0">
                <a:effectLst/>
                <a:latin typeface="Times New Roman" panose="02020603050405020304" pitchFamily="18" charset="0"/>
                <a:ea typeface="Calibri" panose="020F0502020204030204" pitchFamily="34" charset="0"/>
              </a:rPr>
              <a:t>1. Interface overview</a:t>
            </a:r>
            <a:endParaRPr lang="en-IN" dirty="0"/>
          </a:p>
        </p:txBody>
      </p:sp>
      <p:pic>
        <p:nvPicPr>
          <p:cNvPr id="2" name="Picture 1" descr="A screenshot of a computer&#10;&#10;AI-generated content may be incorrect.">
            <a:extLst>
              <a:ext uri="{FF2B5EF4-FFF2-40B4-BE49-F238E27FC236}">
                <a16:creationId xmlns:a16="http://schemas.microsoft.com/office/drawing/2014/main" id="{61EBC7B3-21B9-8B46-4D8A-4356FB0EB321}"/>
              </a:ext>
            </a:extLst>
          </p:cNvPr>
          <p:cNvPicPr>
            <a:picLocks noChangeAspect="1"/>
          </p:cNvPicPr>
          <p:nvPr/>
        </p:nvPicPr>
        <p:blipFill>
          <a:blip r:embed="rId2"/>
          <a:stretch>
            <a:fillRect/>
          </a:stretch>
        </p:blipFill>
        <p:spPr>
          <a:xfrm>
            <a:off x="2194242" y="1751932"/>
            <a:ext cx="8057198" cy="4130707"/>
          </a:xfrm>
          <a:prstGeom prst="rect">
            <a:avLst/>
          </a:prstGeom>
        </p:spPr>
      </p:pic>
    </p:spTree>
    <p:extLst>
      <p:ext uri="{BB962C8B-B14F-4D97-AF65-F5344CB8AC3E}">
        <p14:creationId xmlns:p14="http://schemas.microsoft.com/office/powerpoint/2010/main" val="4023983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1C7C5C8-A7A9-000B-98A0-E410837EAD05}"/>
              </a:ext>
            </a:extLst>
          </p:cNvPr>
          <p:cNvSpPr txBox="1"/>
          <p:nvPr/>
        </p:nvSpPr>
        <p:spPr>
          <a:xfrm>
            <a:off x="442944" y="1289927"/>
            <a:ext cx="6100916" cy="369332"/>
          </a:xfrm>
          <a:prstGeom prst="rect">
            <a:avLst/>
          </a:prstGeom>
          <a:noFill/>
        </p:spPr>
        <p:txBody>
          <a:bodyPr wrap="square">
            <a:spAutoFit/>
          </a:bodyPr>
          <a:lstStyle/>
          <a:p>
            <a:r>
              <a:rPr lang="en-IN" sz="1800" b="1" dirty="0">
                <a:effectLst/>
                <a:latin typeface="Times New Roman" panose="02020603050405020304" pitchFamily="18" charset="0"/>
                <a:ea typeface="Calibri" panose="020F0502020204030204" pitchFamily="34" charset="0"/>
              </a:rPr>
              <a:t>2.</a:t>
            </a:r>
            <a:r>
              <a:rPr lang="en-IN" b="1" dirty="0">
                <a:latin typeface="Times New Roman" panose="02020603050405020304" pitchFamily="18" charset="0"/>
                <a:ea typeface="Calibri" panose="020F0502020204030204" pitchFamily="34" charset="0"/>
              </a:rPr>
              <a:t>Uploading teacher details</a:t>
            </a:r>
            <a:endParaRPr lang="en-IN" dirty="0"/>
          </a:p>
        </p:txBody>
      </p:sp>
      <p:sp>
        <p:nvSpPr>
          <p:cNvPr id="10" name="TextBox 9">
            <a:extLst>
              <a:ext uri="{FF2B5EF4-FFF2-40B4-BE49-F238E27FC236}">
                <a16:creationId xmlns:a16="http://schemas.microsoft.com/office/drawing/2014/main" id="{2F72E50A-22AB-4D98-A48A-8A83DD84ABF9}"/>
              </a:ext>
            </a:extLst>
          </p:cNvPr>
          <p:cNvSpPr txBox="1"/>
          <p:nvPr/>
        </p:nvSpPr>
        <p:spPr>
          <a:xfrm>
            <a:off x="5803490" y="731881"/>
            <a:ext cx="6100916" cy="369332"/>
          </a:xfrm>
          <a:prstGeom prst="rect">
            <a:avLst/>
          </a:prstGeom>
          <a:noFill/>
        </p:spPr>
        <p:txBody>
          <a:bodyPr wrap="square">
            <a:spAutoFit/>
          </a:bodyPr>
          <a:lstStyle/>
          <a:p>
            <a:r>
              <a:rPr lang="en-IN" sz="1800" b="1" dirty="0">
                <a:effectLst/>
                <a:latin typeface="Times New Roman" panose="02020603050405020304" pitchFamily="18" charset="0"/>
                <a:ea typeface="Calibri" panose="020F0502020204030204" pitchFamily="34" charset="0"/>
              </a:rPr>
              <a:t>3.Teacher uploading student attendance</a:t>
            </a:r>
            <a:endParaRPr lang="en-IN" dirty="0"/>
          </a:p>
        </p:txBody>
      </p:sp>
      <p:pic>
        <p:nvPicPr>
          <p:cNvPr id="2" name="Picture 1" descr="A computer screen shot of a computer screen&#10;&#10;AI-generated content may be incorrect.">
            <a:extLst>
              <a:ext uri="{FF2B5EF4-FFF2-40B4-BE49-F238E27FC236}">
                <a16:creationId xmlns:a16="http://schemas.microsoft.com/office/drawing/2014/main" id="{F037BBA3-C4A9-8F93-7990-44AC7177A3F2}"/>
              </a:ext>
            </a:extLst>
          </p:cNvPr>
          <p:cNvPicPr>
            <a:picLocks noChangeAspect="1"/>
          </p:cNvPicPr>
          <p:nvPr/>
        </p:nvPicPr>
        <p:blipFill>
          <a:blip r:embed="rId2"/>
          <a:stretch>
            <a:fillRect/>
          </a:stretch>
        </p:blipFill>
        <p:spPr>
          <a:xfrm>
            <a:off x="442944" y="1847973"/>
            <a:ext cx="5053616" cy="3628267"/>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56B2EA8B-B8D4-3DBB-8FC3-431A97F0FCE0}"/>
              </a:ext>
            </a:extLst>
          </p:cNvPr>
          <p:cNvPicPr>
            <a:picLocks noChangeAspect="1"/>
          </p:cNvPicPr>
          <p:nvPr/>
        </p:nvPicPr>
        <p:blipFill rotWithShape="1">
          <a:blip r:embed="rId3"/>
          <a:srcRect t="7802"/>
          <a:stretch>
            <a:fillRect/>
          </a:stretch>
        </p:blipFill>
        <p:spPr bwMode="auto">
          <a:xfrm>
            <a:off x="6321742" y="1188720"/>
            <a:ext cx="5582664" cy="42875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33172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C04EDF4-81B5-AF44-99C2-505B00634699}"/>
              </a:ext>
            </a:extLst>
          </p:cNvPr>
          <p:cNvSpPr txBox="1"/>
          <p:nvPr/>
        </p:nvSpPr>
        <p:spPr>
          <a:xfrm>
            <a:off x="1152218" y="1171182"/>
            <a:ext cx="6154992" cy="369332"/>
          </a:xfrm>
          <a:prstGeom prst="rect">
            <a:avLst/>
          </a:prstGeom>
          <a:noFill/>
        </p:spPr>
        <p:txBody>
          <a:bodyPr wrap="square">
            <a:spAutoFit/>
          </a:bodyPr>
          <a:lstStyle/>
          <a:p>
            <a:r>
              <a:rPr lang="en-IN" sz="1800" b="1" dirty="0">
                <a:effectLst/>
                <a:latin typeface="Times New Roman" panose="02020603050405020304" pitchFamily="18" charset="0"/>
                <a:ea typeface="Calibri" panose="020F0502020204030204" pitchFamily="34" charset="0"/>
              </a:rPr>
              <a:t>4.Teacher creating assignments</a:t>
            </a:r>
            <a:endParaRPr lang="en-IN" dirty="0"/>
          </a:p>
        </p:txBody>
      </p:sp>
      <p:pic>
        <p:nvPicPr>
          <p:cNvPr id="2" name="Picture 1">
            <a:extLst>
              <a:ext uri="{FF2B5EF4-FFF2-40B4-BE49-F238E27FC236}">
                <a16:creationId xmlns:a16="http://schemas.microsoft.com/office/drawing/2014/main" id="{95DDA3B4-DD86-29FC-DD98-2B810A34A658}"/>
              </a:ext>
            </a:extLst>
          </p:cNvPr>
          <p:cNvPicPr>
            <a:picLocks noChangeAspect="1"/>
          </p:cNvPicPr>
          <p:nvPr/>
        </p:nvPicPr>
        <p:blipFill>
          <a:blip r:embed="rId2"/>
          <a:stretch>
            <a:fillRect/>
          </a:stretch>
        </p:blipFill>
        <p:spPr>
          <a:xfrm>
            <a:off x="1442720" y="1808480"/>
            <a:ext cx="6581457" cy="3878338"/>
          </a:xfrm>
          <a:prstGeom prst="rect">
            <a:avLst/>
          </a:prstGeom>
        </p:spPr>
      </p:pic>
    </p:spTree>
    <p:extLst>
      <p:ext uri="{BB962C8B-B14F-4D97-AF65-F5344CB8AC3E}">
        <p14:creationId xmlns:p14="http://schemas.microsoft.com/office/powerpoint/2010/main" val="4170443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BC66861-A7C7-D99C-892D-C24D245C6B4E}"/>
              </a:ext>
            </a:extLst>
          </p:cNvPr>
          <p:cNvSpPr txBox="1"/>
          <p:nvPr/>
        </p:nvSpPr>
        <p:spPr>
          <a:xfrm>
            <a:off x="1057870" y="1154815"/>
            <a:ext cx="6100916" cy="369332"/>
          </a:xfrm>
          <a:prstGeom prst="rect">
            <a:avLst/>
          </a:prstGeom>
          <a:noFill/>
        </p:spPr>
        <p:txBody>
          <a:bodyPr wrap="square">
            <a:spAutoFit/>
          </a:bodyPr>
          <a:lstStyle/>
          <a:p>
            <a:r>
              <a:rPr lang="en-IN" sz="1800" b="1" dirty="0">
                <a:effectLst/>
                <a:latin typeface="Times New Roman" panose="02020603050405020304" pitchFamily="18" charset="0"/>
                <a:ea typeface="Calibri" panose="020F0502020204030204" pitchFamily="34" charset="0"/>
              </a:rPr>
              <a:t>5.Student checking assignments</a:t>
            </a:r>
            <a:endParaRPr lang="en-IN" dirty="0"/>
          </a:p>
        </p:txBody>
      </p:sp>
      <p:pic>
        <p:nvPicPr>
          <p:cNvPr id="2" name="Picture 1">
            <a:extLst>
              <a:ext uri="{FF2B5EF4-FFF2-40B4-BE49-F238E27FC236}">
                <a16:creationId xmlns:a16="http://schemas.microsoft.com/office/drawing/2014/main" id="{6B0A1F3A-2CB2-C551-8560-961FD349A35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7870" y="1828799"/>
            <a:ext cx="7062510" cy="3874385"/>
          </a:xfrm>
          <a:prstGeom prst="rect">
            <a:avLst/>
          </a:prstGeom>
          <a:noFill/>
          <a:ln>
            <a:noFill/>
          </a:ln>
        </p:spPr>
      </p:pic>
    </p:spTree>
    <p:extLst>
      <p:ext uri="{BB962C8B-B14F-4D97-AF65-F5344CB8AC3E}">
        <p14:creationId xmlns:p14="http://schemas.microsoft.com/office/powerpoint/2010/main" val="1347066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D976AF4-306D-15A5-57BA-E9ED3A958FF2}"/>
              </a:ext>
            </a:extLst>
          </p:cNvPr>
          <p:cNvSpPr txBox="1"/>
          <p:nvPr/>
        </p:nvSpPr>
        <p:spPr>
          <a:xfrm>
            <a:off x="1020424" y="1072658"/>
            <a:ext cx="6100916" cy="369332"/>
          </a:xfrm>
          <a:prstGeom prst="rect">
            <a:avLst/>
          </a:prstGeom>
          <a:noFill/>
        </p:spPr>
        <p:txBody>
          <a:bodyPr wrap="square">
            <a:spAutoFit/>
          </a:bodyPr>
          <a:lstStyle/>
          <a:p>
            <a:r>
              <a:rPr lang="en-IN" sz="1800" b="1" dirty="0">
                <a:effectLst/>
                <a:latin typeface="Times New Roman" panose="02020603050405020304" pitchFamily="18" charset="0"/>
                <a:ea typeface="Calibri" panose="020F0502020204030204" pitchFamily="34" charset="0"/>
              </a:rPr>
              <a:t>6.Student downloading learning materials </a:t>
            </a:r>
            <a:endParaRPr lang="en-IN" dirty="0"/>
          </a:p>
        </p:txBody>
      </p:sp>
      <p:pic>
        <p:nvPicPr>
          <p:cNvPr id="2" name="Picture 1" descr="A computer screen shot of a person&#10;&#10;AI-generated content may be incorrect.">
            <a:extLst>
              <a:ext uri="{FF2B5EF4-FFF2-40B4-BE49-F238E27FC236}">
                <a16:creationId xmlns:a16="http://schemas.microsoft.com/office/drawing/2014/main" id="{EC12A7B5-9FB2-3D97-B6A8-D2D9E973D99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960" y="1686560"/>
            <a:ext cx="6896735" cy="3810000"/>
          </a:xfrm>
          <a:prstGeom prst="rect">
            <a:avLst/>
          </a:prstGeom>
          <a:noFill/>
          <a:ln>
            <a:noFill/>
          </a:ln>
        </p:spPr>
      </p:pic>
    </p:spTree>
    <p:extLst>
      <p:ext uri="{BB962C8B-B14F-4D97-AF65-F5344CB8AC3E}">
        <p14:creationId xmlns:p14="http://schemas.microsoft.com/office/powerpoint/2010/main" val="955230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CA19FF2-E34A-F6A3-2186-6593C6F6A2F6}"/>
              </a:ext>
            </a:extLst>
          </p:cNvPr>
          <p:cNvSpPr txBox="1"/>
          <p:nvPr/>
        </p:nvSpPr>
        <p:spPr>
          <a:xfrm>
            <a:off x="990600" y="1316346"/>
            <a:ext cx="10210800" cy="4500206"/>
          </a:xfrm>
          <a:prstGeom prst="rect">
            <a:avLst/>
          </a:prstGeom>
          <a:noFill/>
        </p:spPr>
        <p:txBody>
          <a:bodyPr wrap="square">
            <a:spAutoFit/>
          </a:bodyPr>
          <a:lstStyle/>
          <a:p>
            <a:pPr algn="ctr">
              <a:lnSpc>
                <a:spcPct val="200000"/>
              </a:lnSpc>
              <a:spcAft>
                <a:spcPts val="800"/>
              </a:spcAft>
              <a:buNone/>
            </a:pPr>
            <a:r>
              <a:rPr lang="en-IN" sz="20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CONCLUSION &amp; FUTURE ASPECTS</a:t>
            </a:r>
            <a:endParaRPr lang="en-IN" sz="20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indent="228600" algn="just">
              <a:lnSpc>
                <a:spcPct val="150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 this research, a Centralized Student–Faculty Platform for Real-Time Academic Performance Prediction was successfully developed. The study demonstrated the effectiveness of integrating machine learning techniques with centralized academic data management to monitor and predict student performance. The proposed system utilized algorithms such as Naïve Bayes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to analyze student academic data including marks, attendance, and assignments. The models were evaluated using performance metrics such as accuracy, precision, recall, and F1-score to measure prediction performance. Among the algorithms used, the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classifier achieved better prediction accuracy compared to the Naïve Bayes model, showing its effectiveness for analyzing academic data. The improvement in prediction capability is due to the ability of machine learning algorithms to identify patterns in historical academic records.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72432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2B5859-25AB-2162-9FD6-610499DABA2E}"/>
              </a:ext>
            </a:extLst>
          </p:cNvPr>
          <p:cNvSpPr txBox="1"/>
          <p:nvPr/>
        </p:nvSpPr>
        <p:spPr>
          <a:xfrm>
            <a:off x="1337187" y="1278389"/>
            <a:ext cx="9153832" cy="3720506"/>
          </a:xfrm>
          <a:prstGeom prst="rect">
            <a:avLst/>
          </a:prstGeom>
          <a:noFill/>
        </p:spPr>
        <p:txBody>
          <a:bodyPr wrap="square">
            <a:spAutoFit/>
          </a:bodyPr>
          <a:lstStyle/>
          <a:p>
            <a:pPr algn="ctr">
              <a:buNone/>
            </a:pPr>
            <a:r>
              <a:rPr lang="en-US" sz="2000" b="1" dirty="0">
                <a:solidFill>
                  <a:srgbClr val="FF0000"/>
                </a:solidFill>
                <a:latin typeface="Times New Roman" panose="02020603050405020304" pitchFamily="18" charset="0"/>
                <a:cs typeface="Times New Roman" panose="02020603050405020304" pitchFamily="18" charset="0"/>
              </a:rPr>
              <a:t>FUTURE ASPECTS</a:t>
            </a:r>
          </a:p>
          <a:p>
            <a:pPr algn="just">
              <a:lnSpc>
                <a:spcPct val="150000"/>
              </a:lnSpc>
              <a:buNone/>
            </a:pPr>
            <a:br>
              <a:rPr lang="en-US" sz="2000"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Although the proposed system performed effectively, there are several opportunities for future improvement. The dataset used for training the machine learning models can be expanded with more academic records from different departments and institutions to improve prediction accuracy. Future work can also focus on integrating additional machine learning techniques such as Artificial Neural Networks and Random Forest algorithms to enhance prediction performance. Including more academic features such as attendance patterns and assignment completion data can further improve the system’s analytical capabilities. </a:t>
            </a:r>
          </a:p>
        </p:txBody>
      </p:sp>
    </p:spTree>
    <p:extLst>
      <p:ext uri="{BB962C8B-B14F-4D97-AF65-F5344CB8AC3E}">
        <p14:creationId xmlns:p14="http://schemas.microsoft.com/office/powerpoint/2010/main" val="26186245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639B45-7860-A8AC-05E8-7301308C4858}"/>
              </a:ext>
            </a:extLst>
          </p:cNvPr>
          <p:cNvSpPr txBox="1"/>
          <p:nvPr/>
        </p:nvSpPr>
        <p:spPr>
          <a:xfrm>
            <a:off x="0" y="1002891"/>
            <a:ext cx="12192000" cy="400110"/>
          </a:xfrm>
          <a:prstGeom prst="rect">
            <a:avLst/>
          </a:prstGeom>
          <a:noFill/>
        </p:spPr>
        <p:txBody>
          <a:bodyPr wrap="square" rtlCol="0">
            <a:spAutoFit/>
          </a:bodyPr>
          <a:lstStyle/>
          <a:p>
            <a:pPr algn="ctr"/>
            <a:r>
              <a:rPr lang="en-IN" sz="2000" b="1" dirty="0">
                <a:solidFill>
                  <a:srgbClr val="FF0000"/>
                </a:solidFill>
                <a:latin typeface="Times New Roman" panose="02020603050405020304" pitchFamily="18" charset="0"/>
                <a:cs typeface="Times New Roman" panose="02020603050405020304" pitchFamily="18" charset="0"/>
              </a:rPr>
              <a:t>REFERENCES</a:t>
            </a:r>
          </a:p>
        </p:txBody>
      </p:sp>
      <p:sp>
        <p:nvSpPr>
          <p:cNvPr id="6" name="Rectangle 1">
            <a:extLst>
              <a:ext uri="{FF2B5EF4-FFF2-40B4-BE49-F238E27FC236}">
                <a16:creationId xmlns:a16="http://schemas.microsoft.com/office/drawing/2014/main" id="{DA84F2ED-F28A-87C0-090B-02A2CBBA0BF0}"/>
              </a:ext>
            </a:extLst>
          </p:cNvPr>
          <p:cNvSpPr>
            <a:spLocks noChangeArrowheads="1"/>
          </p:cNvSpPr>
          <p:nvPr/>
        </p:nvSpPr>
        <p:spPr bwMode="auto">
          <a:xfrm>
            <a:off x="782648" y="920933"/>
            <a:ext cx="10878812" cy="461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defTabSz="914400"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[1] Kezar, A.; Kitchen, J.A.; Estes, H.; Hallett, R.; Perez, R. Tailoring programs to best support</a:t>
            </a:r>
          </a:p>
          <a:p>
            <a:pPr lvl="0" defTabSz="914400"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  low-income, first-generation, and racially minoritized college student success. J. Coll. Stud. </a:t>
            </a:r>
          </a:p>
          <a:p>
            <a:pPr lvl="0" defTabSz="914400"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Retent</a:t>
            </a:r>
            <a:r>
              <a:rPr lang="en-US" dirty="0">
                <a:latin typeface="Times New Roman" panose="02020603050405020304" pitchFamily="18" charset="0"/>
                <a:cs typeface="Times New Roman" panose="02020603050405020304" pitchFamily="18" charset="0"/>
              </a:rPr>
              <a:t>. Res. Theory </a:t>
            </a:r>
            <a:r>
              <a:rPr lang="en-US" dirty="0" err="1">
                <a:latin typeface="Times New Roman" panose="02020603050405020304" pitchFamily="18" charset="0"/>
                <a:cs typeface="Times New Roman" panose="02020603050405020304" pitchFamily="18" charset="0"/>
              </a:rPr>
              <a:t>Pract</a:t>
            </a:r>
            <a:r>
              <a:rPr lang="en-US" dirty="0">
                <a:latin typeface="Times New Roman" panose="02020603050405020304" pitchFamily="18" charset="0"/>
                <a:cs typeface="Times New Roman" panose="02020603050405020304" pitchFamily="18" charset="0"/>
              </a:rPr>
              <a:t>. 2023, 25, 126–152.</a:t>
            </a:r>
          </a:p>
          <a:p>
            <a:pPr lvl="0" defTabSz="914400"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[2] Wilmer, E. Student support services for the underprepared student. Inq. J. Va. Community Coll. 2008, 13, 4–19. </a:t>
            </a:r>
          </a:p>
          <a:p>
            <a:pPr lvl="0" defTabSz="914400" eaLnBrk="0" fontAlgn="base" hangingPunct="0">
              <a:lnSpc>
                <a:spcPct val="150000"/>
              </a:lnSpc>
              <a:spcBef>
                <a:spcPct val="0"/>
              </a:spcBef>
              <a:spcAft>
                <a:spcPct val="0"/>
              </a:spcAft>
            </a:pPr>
            <a:r>
              <a:rPr lang="en-IN" dirty="0">
                <a:latin typeface="Times New Roman" panose="02020603050405020304" pitchFamily="18" charset="0"/>
                <a:cs typeface="Times New Roman" panose="02020603050405020304" pitchFamily="18" charset="0"/>
              </a:rPr>
              <a:t>[3] Andrews, R.J.; </a:t>
            </a:r>
            <a:r>
              <a:rPr lang="en-IN" dirty="0" err="1">
                <a:latin typeface="Times New Roman" panose="02020603050405020304" pitchFamily="18" charset="0"/>
                <a:cs typeface="Times New Roman" panose="02020603050405020304" pitchFamily="18" charset="0"/>
              </a:rPr>
              <a:t>Imberman</a:t>
            </a:r>
            <a:r>
              <a:rPr lang="en-IN" dirty="0">
                <a:latin typeface="Times New Roman" panose="02020603050405020304" pitchFamily="18" charset="0"/>
                <a:cs typeface="Times New Roman" panose="02020603050405020304" pitchFamily="18" charset="0"/>
              </a:rPr>
              <a:t>, S.A.; </a:t>
            </a:r>
            <a:r>
              <a:rPr lang="en-IN" dirty="0" err="1">
                <a:latin typeface="Times New Roman" panose="02020603050405020304" pitchFamily="18" charset="0"/>
                <a:cs typeface="Times New Roman" panose="02020603050405020304" pitchFamily="18" charset="0"/>
              </a:rPr>
              <a:t>Lovenheim</a:t>
            </a:r>
            <a:r>
              <a:rPr lang="en-IN" dirty="0">
                <a:latin typeface="Times New Roman" panose="02020603050405020304" pitchFamily="18" charset="0"/>
                <a:cs typeface="Times New Roman" panose="02020603050405020304" pitchFamily="18" charset="0"/>
              </a:rPr>
              <a:t>, M.F. Recruiting and supporting low-income, </a:t>
            </a:r>
          </a:p>
          <a:p>
            <a:pPr lvl="0" defTabSz="914400" eaLnBrk="0" fontAlgn="base" hangingPunct="0">
              <a:lnSpc>
                <a:spcPct val="150000"/>
              </a:lnSpc>
              <a:spcBef>
                <a:spcPct val="0"/>
              </a:spcBef>
              <a:spcAft>
                <a:spcPct val="0"/>
              </a:spcAft>
            </a:pPr>
            <a:r>
              <a:rPr lang="en-IN" dirty="0">
                <a:latin typeface="Times New Roman" panose="02020603050405020304" pitchFamily="18" charset="0"/>
                <a:cs typeface="Times New Roman" panose="02020603050405020304" pitchFamily="18" charset="0"/>
              </a:rPr>
              <a:t>high-achieving students at flagship universities. Econ. Educ. Rev. 2020, 74, 101923. </a:t>
            </a:r>
          </a:p>
          <a:p>
            <a:pPr lvl="0" defTabSz="914400" eaLnBrk="0" fontAlgn="base" hangingPunct="0">
              <a:lnSpc>
                <a:spcPct val="150000"/>
              </a:lnSpc>
              <a:spcBef>
                <a:spcPct val="0"/>
              </a:spcBef>
              <a:spcAft>
                <a:spcPct val="0"/>
              </a:spcAft>
            </a:pPr>
            <a:r>
              <a:rPr lang="en-IN" dirty="0">
                <a:latin typeface="Times New Roman" panose="02020603050405020304" pitchFamily="18" charset="0"/>
                <a:cs typeface="Times New Roman" panose="02020603050405020304" pitchFamily="18" charset="0"/>
              </a:rPr>
              <a:t>[4] Hoyt, J.E. Student connections: The critical role of student affairs and academic support services </a:t>
            </a:r>
          </a:p>
          <a:p>
            <a:pPr lvl="0" defTabSz="914400" eaLnBrk="0" fontAlgn="base" hangingPunct="0">
              <a:lnSpc>
                <a:spcPct val="150000"/>
              </a:lnSpc>
              <a:spcBef>
                <a:spcPct val="0"/>
              </a:spcBef>
              <a:spcAft>
                <a:spcPct val="0"/>
              </a:spcAft>
            </a:pPr>
            <a:r>
              <a:rPr lang="en-IN" dirty="0">
                <a:latin typeface="Times New Roman" panose="02020603050405020304" pitchFamily="18" charset="0"/>
                <a:cs typeface="Times New Roman" panose="02020603050405020304" pitchFamily="18" charset="0"/>
              </a:rPr>
              <a:t>in retention efforts. J. Coll. Stud. </a:t>
            </a:r>
            <a:r>
              <a:rPr lang="en-IN" dirty="0" err="1">
                <a:latin typeface="Times New Roman" panose="02020603050405020304" pitchFamily="18" charset="0"/>
                <a:cs typeface="Times New Roman" panose="02020603050405020304" pitchFamily="18" charset="0"/>
              </a:rPr>
              <a:t>Retent</a:t>
            </a:r>
            <a:r>
              <a:rPr lang="en-IN" dirty="0">
                <a:latin typeface="Times New Roman" panose="02020603050405020304" pitchFamily="18" charset="0"/>
                <a:cs typeface="Times New Roman" panose="02020603050405020304" pitchFamily="18" charset="0"/>
              </a:rPr>
              <a:t>. Res. Theory </a:t>
            </a:r>
            <a:r>
              <a:rPr lang="en-IN" dirty="0" err="1">
                <a:latin typeface="Times New Roman" panose="02020603050405020304" pitchFamily="18" charset="0"/>
                <a:cs typeface="Times New Roman" panose="02020603050405020304" pitchFamily="18" charset="0"/>
              </a:rPr>
              <a:t>Pract</a:t>
            </a:r>
            <a:r>
              <a:rPr lang="en-IN" dirty="0">
                <a:latin typeface="Times New Roman" panose="02020603050405020304" pitchFamily="18" charset="0"/>
                <a:cs typeface="Times New Roman" panose="02020603050405020304" pitchFamily="18" charset="0"/>
              </a:rPr>
              <a:t>. 2023, 25, 480–491. </a:t>
            </a:r>
          </a:p>
          <a:p>
            <a:pPr lvl="0" defTabSz="914400" eaLnBrk="0" fontAlgn="base" hangingPunct="0">
              <a:lnSpc>
                <a:spcPct val="150000"/>
              </a:lnSpc>
              <a:spcBef>
                <a:spcPct val="0"/>
              </a:spcBef>
              <a:spcAft>
                <a:spcPct val="0"/>
              </a:spcAft>
            </a:pPr>
            <a:r>
              <a:rPr lang="en-IN" dirty="0">
                <a:latin typeface="Times New Roman" panose="02020603050405020304" pitchFamily="18" charset="0"/>
                <a:cs typeface="Times New Roman" panose="02020603050405020304" pitchFamily="18" charset="0"/>
              </a:rPr>
              <a:t>[5] Kuh, G.D. Student success. In Student Services: A Handbook for the Profession, 5th ed.; Schuh, </a:t>
            </a:r>
          </a:p>
          <a:p>
            <a:pPr lvl="0" defTabSz="914400" eaLnBrk="0" fontAlgn="base" hangingPunct="0">
              <a:lnSpc>
                <a:spcPct val="150000"/>
              </a:lnSpc>
              <a:spcBef>
                <a:spcPct val="0"/>
              </a:spcBef>
              <a:spcAft>
                <a:spcPct val="0"/>
              </a:spcAft>
            </a:pPr>
            <a:r>
              <a:rPr lang="en-IN" dirty="0">
                <a:latin typeface="Times New Roman" panose="02020603050405020304" pitchFamily="18" charset="0"/>
                <a:cs typeface="Times New Roman" panose="02020603050405020304" pitchFamily="18" charset="0"/>
              </a:rPr>
              <a:t>J.H., Jones, S.R., </a:t>
            </a:r>
            <a:r>
              <a:rPr lang="en-IN" dirty="0" err="1">
                <a:latin typeface="Times New Roman" panose="02020603050405020304" pitchFamily="18" charset="0"/>
                <a:cs typeface="Times New Roman" panose="02020603050405020304" pitchFamily="18" charset="0"/>
              </a:rPr>
              <a:t>Harper,S.R</a:t>
            </a:r>
            <a:r>
              <a:rPr lang="en-IN" dirty="0">
                <a:latin typeface="Times New Roman" panose="02020603050405020304" pitchFamily="18" charset="0"/>
                <a:cs typeface="Times New Roman" panose="02020603050405020304" pitchFamily="18" charset="0"/>
              </a:rPr>
              <a:t>., Eds.; Jossey-Bass: Hoboken, NJ, USA, 2011; pp. 257 270.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71301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4F5F95-E4ED-9EA9-8A95-BC38598EBF31}"/>
              </a:ext>
            </a:extLst>
          </p:cNvPr>
          <p:cNvSpPr>
            <a:spLocks noGrp="1"/>
          </p:cNvSpPr>
          <p:nvPr>
            <p:ph idx="1"/>
          </p:nvPr>
        </p:nvSpPr>
        <p:spPr>
          <a:xfrm>
            <a:off x="1130270" y="1046480"/>
            <a:ext cx="9603275" cy="4419865"/>
          </a:xfrm>
        </p:spPr>
        <p:txBody>
          <a:bodyPr>
            <a:normAutofit fontScale="85000" lnSpcReduction="10000"/>
          </a:bodyPr>
          <a:lstStyle/>
          <a:p>
            <a:pPr marL="0" indent="0">
              <a:buNone/>
            </a:pPr>
            <a:r>
              <a:rPr lang="en-IN" dirty="0">
                <a:latin typeface="Times New Roman" panose="02020603050405020304" pitchFamily="18" charset="0"/>
                <a:cs typeface="Times New Roman" panose="02020603050405020304" pitchFamily="18" charset="0"/>
              </a:rPr>
              <a:t>[6] </a:t>
            </a:r>
            <a:r>
              <a:rPr lang="en-IN" dirty="0" err="1">
                <a:latin typeface="Times New Roman" panose="02020603050405020304" pitchFamily="18" charset="0"/>
                <a:cs typeface="Times New Roman" panose="02020603050405020304" pitchFamily="18" charset="0"/>
              </a:rPr>
              <a:t>Alruwais</a:t>
            </a:r>
            <a:r>
              <a:rPr lang="en-IN" dirty="0">
                <a:latin typeface="Times New Roman" panose="02020603050405020304" pitchFamily="18" charset="0"/>
                <a:cs typeface="Times New Roman" panose="02020603050405020304" pitchFamily="18" charset="0"/>
              </a:rPr>
              <a:t>, N.; Zakariah, M. Evaluating Student Knowledge Assessment Using Machine Learning Techniques. Sustainability 2023, 15, 6229. </a:t>
            </a:r>
            <a:r>
              <a:rPr lang="en-IN" dirty="0">
                <a:latin typeface="Times New Roman" panose="02020603050405020304" pitchFamily="18" charset="0"/>
                <a:cs typeface="Times New Roman" panose="02020603050405020304" pitchFamily="18" charset="0"/>
                <a:hlinkClick r:id="rId2"/>
              </a:rPr>
              <a:t>https://doi.org/10.3390/su15076229</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[7] Oliveira, P.F.; Matos, P. Introducing a Chatbot to the Web Portal of a Higher Education Institution to Enhance Student https://doi.org/10.3390/ASEC2023-16621. Interaction. Eng. Proc. 2023, 56, 128. </a:t>
            </a:r>
          </a:p>
          <a:p>
            <a:pPr marL="0" indent="0">
              <a:buNone/>
            </a:pPr>
            <a:r>
              <a:rPr lang="en-IN" dirty="0">
                <a:latin typeface="Times New Roman" panose="02020603050405020304" pitchFamily="18" charset="0"/>
                <a:cs typeface="Times New Roman" panose="02020603050405020304" pitchFamily="18" charset="0"/>
              </a:rPr>
              <a:t>[8] </a:t>
            </a:r>
            <a:r>
              <a:rPr lang="en-IN" dirty="0" err="1">
                <a:latin typeface="Times New Roman" panose="02020603050405020304" pitchFamily="18" charset="0"/>
                <a:cs typeface="Times New Roman" panose="02020603050405020304" pitchFamily="18" charset="0"/>
              </a:rPr>
              <a:t>Imundo</a:t>
            </a:r>
            <a:r>
              <a:rPr lang="en-IN" dirty="0">
                <a:latin typeface="Times New Roman" panose="02020603050405020304" pitchFamily="18" charset="0"/>
                <a:cs typeface="Times New Roman" panose="02020603050405020304" pitchFamily="18" charset="0"/>
              </a:rPr>
              <a:t>, M.N.; </a:t>
            </a:r>
            <a:r>
              <a:rPr lang="en-IN" dirty="0" err="1">
                <a:latin typeface="Times New Roman" panose="02020603050405020304" pitchFamily="18" charset="0"/>
                <a:cs typeface="Times New Roman" panose="02020603050405020304" pitchFamily="18" charset="0"/>
              </a:rPr>
              <a:t>Goldshtein</a:t>
            </a:r>
            <a:r>
              <a:rPr lang="en-IN" dirty="0">
                <a:latin typeface="Times New Roman" panose="02020603050405020304" pitchFamily="18" charset="0"/>
                <a:cs typeface="Times New Roman" panose="02020603050405020304" pitchFamily="18" charset="0"/>
              </a:rPr>
              <a:t>, M.; Watanabe, M.; Gong, J.; Crosby, D.N.; Roscoe, R.D.; Arner, T.; McNamara, D.S. Awareness to Action: Student Knowledge of and Responses to an Early Alert System. Appl. Sci. 2025, 15, 6316. </a:t>
            </a:r>
            <a:r>
              <a:rPr lang="en-IN" dirty="0">
                <a:latin typeface="Times New Roman" panose="02020603050405020304" pitchFamily="18" charset="0"/>
                <a:cs typeface="Times New Roman" panose="02020603050405020304" pitchFamily="18" charset="0"/>
                <a:hlinkClick r:id="rId3"/>
              </a:rPr>
              <a:t>https://doi.org/10.3390/app15116316</a:t>
            </a:r>
            <a:r>
              <a:rPr lang="en-IN"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[9] Guanin-Fajardo, J.H.; </a:t>
            </a:r>
            <a:r>
              <a:rPr lang="en-US" dirty="0" err="1">
                <a:latin typeface="Times New Roman" panose="02020603050405020304" pitchFamily="18" charset="0"/>
                <a:cs typeface="Times New Roman" panose="02020603050405020304" pitchFamily="18" charset="0"/>
              </a:rPr>
              <a:t>Guaña</a:t>
            </a:r>
            <a:r>
              <a:rPr lang="en-US" dirty="0">
                <a:latin typeface="Times New Roman" panose="02020603050405020304" pitchFamily="18" charset="0"/>
                <a:cs typeface="Times New Roman" panose="02020603050405020304" pitchFamily="18" charset="0"/>
              </a:rPr>
              <a:t>-Moya, J.; Casillas, J. Predicting Academic Success of College </a:t>
            </a:r>
            <a:r>
              <a:rPr lang="en-IN" dirty="0">
                <a:latin typeface="Times New Roman" panose="02020603050405020304" pitchFamily="18" charset="0"/>
                <a:cs typeface="Times New Roman" panose="02020603050405020304" pitchFamily="18" charset="0"/>
              </a:rPr>
              <a:t>Students Using Machine </a:t>
            </a:r>
            <a:r>
              <a:rPr lang="en-US" dirty="0">
                <a:latin typeface="Times New Roman" panose="02020603050405020304" pitchFamily="18" charset="0"/>
                <a:cs typeface="Times New Roman" panose="02020603050405020304" pitchFamily="18" charset="0"/>
              </a:rPr>
              <a:t>Learning Techniques. Data 2024, 9, 60. </a:t>
            </a:r>
            <a:r>
              <a:rPr lang="en-IN" dirty="0">
                <a:latin typeface="Times New Roman" panose="02020603050405020304" pitchFamily="18" charset="0"/>
                <a:cs typeface="Times New Roman" panose="02020603050405020304" pitchFamily="18" charset="0"/>
              </a:rPr>
              <a:t>https://doi.org/10.3390/data9040060. </a:t>
            </a:r>
          </a:p>
          <a:p>
            <a:pPr marL="0" indent="0">
              <a:buNone/>
            </a:pPr>
            <a:r>
              <a:rPr lang="en-US" dirty="0">
                <a:latin typeface="Times New Roman" panose="02020603050405020304" pitchFamily="18" charset="0"/>
                <a:cs typeface="Times New Roman" panose="02020603050405020304" pitchFamily="18" charset="0"/>
              </a:rPr>
              <a:t>[10] Learning Techniques. Data 2024, 9, 60. Syed Mustapha, S.M.F.D. Predictive Analysis of Students’ Learning Performance Using Data Mining Techniques: A Comparative Study of Feature Selection Methods. Appl. Syst. </a:t>
            </a:r>
            <a:r>
              <a:rPr lang="en-US" dirty="0" err="1">
                <a:latin typeface="Times New Roman" panose="02020603050405020304" pitchFamily="18" charset="0"/>
                <a:cs typeface="Times New Roman" panose="02020603050405020304" pitchFamily="18" charset="0"/>
              </a:rPr>
              <a:t>Innov</a:t>
            </a:r>
            <a:r>
              <a:rPr lang="en-US" dirty="0">
                <a:latin typeface="Times New Roman" panose="02020603050405020304" pitchFamily="18" charset="0"/>
                <a:cs typeface="Times New Roman" panose="02020603050405020304" pitchFamily="18" charset="0"/>
              </a:rPr>
              <a:t>. 2023, 6, 86. https://doi.org/10.3390/asi6050086.</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3646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DA31390-BA27-E24B-FAF8-3C85CF048BA6}"/>
              </a:ext>
            </a:extLst>
          </p:cNvPr>
          <p:cNvSpPr txBox="1"/>
          <p:nvPr/>
        </p:nvSpPr>
        <p:spPr>
          <a:xfrm>
            <a:off x="-1" y="1838632"/>
            <a:ext cx="12113342" cy="400110"/>
          </a:xfrm>
          <a:prstGeom prst="rect">
            <a:avLst/>
          </a:prstGeom>
          <a:noFill/>
        </p:spPr>
        <p:txBody>
          <a:bodyPr wrap="square" rtlCol="0">
            <a:spAutoFit/>
          </a:bodyPr>
          <a:lstStyle/>
          <a:p>
            <a:pPr algn="ctr"/>
            <a:r>
              <a:rPr lang="en-IN" sz="2000" b="1" dirty="0">
                <a:solidFill>
                  <a:srgbClr val="FF0000"/>
                </a:solidFill>
                <a:latin typeface="Times New Roman" panose="02020603050405020304" pitchFamily="18" charset="0"/>
                <a:cs typeface="Times New Roman" panose="02020603050405020304" pitchFamily="18" charset="0"/>
              </a:rPr>
              <a:t>GITHUB LINK</a:t>
            </a:r>
          </a:p>
        </p:txBody>
      </p:sp>
      <p:sp>
        <p:nvSpPr>
          <p:cNvPr id="6" name="TextBox 5">
            <a:extLst>
              <a:ext uri="{FF2B5EF4-FFF2-40B4-BE49-F238E27FC236}">
                <a16:creationId xmlns:a16="http://schemas.microsoft.com/office/drawing/2014/main" id="{C2282BAC-4968-B0D8-777C-1BA188ACB288}"/>
              </a:ext>
            </a:extLst>
          </p:cNvPr>
          <p:cNvSpPr txBox="1"/>
          <p:nvPr/>
        </p:nvSpPr>
        <p:spPr>
          <a:xfrm>
            <a:off x="2266335" y="2579056"/>
            <a:ext cx="9173497" cy="503984"/>
          </a:xfrm>
          <a:prstGeom prst="rect">
            <a:avLst/>
          </a:prstGeom>
          <a:noFill/>
        </p:spPr>
        <p:txBody>
          <a:bodyPr wrap="square">
            <a:spAutoFit/>
          </a:bodyPr>
          <a:lstStyle/>
          <a:p>
            <a:pPr algn="just">
              <a:lnSpc>
                <a:spcPct val="150000"/>
              </a:lnSpc>
              <a:spcAft>
                <a:spcPts val="800"/>
              </a:spcAft>
              <a:buNone/>
            </a:pPr>
            <a:r>
              <a:rPr lang="en-IN" sz="2000" dirty="0">
                <a:latin typeface="Times New Roman" panose="02020603050405020304" pitchFamily="18" charset="0"/>
                <a:cs typeface="Times New Roman" panose="02020603050405020304" pitchFamily="18" charset="0"/>
              </a:rPr>
              <a:t>https://github.com/mashapathrianjali03/Major-Project---A23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9749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27F0AE-0860-EC47-0C63-548DA79CDBDD}"/>
              </a:ext>
            </a:extLst>
          </p:cNvPr>
          <p:cNvSpPr txBox="1"/>
          <p:nvPr/>
        </p:nvSpPr>
        <p:spPr>
          <a:xfrm>
            <a:off x="0" y="2487561"/>
            <a:ext cx="12192000" cy="1200329"/>
          </a:xfrm>
          <a:prstGeom prst="rect">
            <a:avLst/>
          </a:prstGeom>
          <a:noFill/>
        </p:spPr>
        <p:txBody>
          <a:bodyPr wrap="square" rtlCol="0">
            <a:spAutoFit/>
          </a:bodyPr>
          <a:lstStyle/>
          <a:p>
            <a:pPr algn="ctr"/>
            <a:r>
              <a:rPr lang="en-IN" sz="72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96878167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1218</TotalTime>
  <Words>2226</Words>
  <Application>Microsoft Office PowerPoint</Application>
  <PresentationFormat>Widescreen</PresentationFormat>
  <Paragraphs>183</Paragraphs>
  <Slides>31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Century Gothic</vt:lpstr>
      <vt:lpstr>Sylfaen</vt:lpstr>
      <vt:lpstr>Times New Roman</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batch23</dc:creator>
  <cp:lastModifiedBy>GANGAVARAM ABHINAV</cp:lastModifiedBy>
  <cp:revision>38</cp:revision>
  <dcterms:created xsi:type="dcterms:W3CDTF">2025-03-24T08:29:44Z</dcterms:created>
  <dcterms:modified xsi:type="dcterms:W3CDTF">2026-03-23T03:34:47Z</dcterms:modified>
</cp:coreProperties>
</file>